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62" r:id="rId4"/>
    <p:sldId id="259" r:id="rId5"/>
    <p:sldId id="258" r:id="rId6"/>
    <p:sldId id="261" r:id="rId7"/>
    <p:sldId id="263" r:id="rId8"/>
    <p:sldId id="260" r:id="rId9"/>
    <p:sldId id="264" r:id="rId10"/>
    <p:sldId id="265" r:id="rId11"/>
  </p:sldIdLst>
  <p:sldSz cx="18288000" cy="10287000"/>
  <p:notesSz cx="18288000" cy="10287000"/>
  <p:embeddedFontLst>
    <p:embeddedFont>
      <p:font typeface="Tahoma" panose="020B0604030504040204" pitchFamily="34" charset="0"/>
      <p:regular r:id="rId13"/>
      <p:bold r:id="rId14"/>
    </p:embeddedFont>
    <p:embeddedFont>
      <p:font typeface="Trebuchet MS" panose="020B0703020202090204" pitchFamily="34" charset="0"/>
      <p:regular r:id="rId15"/>
      <p:bold r:id="rId16"/>
      <p: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jjVhjslX3ynpaWBvMB0mvt7Gsas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27"/>
    <p:restoredTop sz="94747"/>
  </p:normalViewPr>
  <p:slideViewPr>
    <p:cSldViewPr snapToGrid="0">
      <p:cViewPr>
        <p:scale>
          <a:sx n="58" d="100"/>
          <a:sy n="58" d="100"/>
        </p:scale>
        <p:origin x="2240" y="108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1: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2: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 name="Google Shape;55;p2: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4: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4: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 name="Google Shape;62;p3: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0" y="771525"/>
            <a:ext cx="6859588" cy="385762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745661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5: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 name="Google Shape;84;p5: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7"/>
          <p:cNvSpPr txBox="1">
            <a:spLocks noGrp="1"/>
          </p:cNvSpPr>
          <p:nvPr>
            <p:ph type="title"/>
          </p:nvPr>
        </p:nvSpPr>
        <p:spPr>
          <a:xfrm>
            <a:off x="3329276" y="294775"/>
            <a:ext cx="11629447" cy="7874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b="1" i="0">
                <a:solidFill>
                  <a:srgbClr val="7B16AC"/>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
          <p:cNvSpPr txBox="1">
            <a:spLocks noGrp="1"/>
          </p:cNvSpPr>
          <p:nvPr>
            <p:ph type="body" idx="1"/>
          </p:nvPr>
        </p:nvSpPr>
        <p:spPr>
          <a:xfrm>
            <a:off x="914400" y="2366010"/>
            <a:ext cx="16459200" cy="678942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4" name="Google Shape;14;p7"/>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7"/>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b="0" i="0" u="none" strike="noStrike" cap="non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8"/>
          <p:cNvSpPr txBox="1">
            <a:spLocks noGrp="1"/>
          </p:cNvSpPr>
          <p:nvPr>
            <p:ph type="ctrTitle"/>
          </p:nvPr>
        </p:nvSpPr>
        <p:spPr>
          <a:xfrm>
            <a:off x="1371600" y="3188970"/>
            <a:ext cx="15544800" cy="21602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
          <p:cNvSpPr txBox="1">
            <a:spLocks noGrp="1"/>
          </p:cNvSpPr>
          <p:nvPr>
            <p:ph type="subTitle" idx="1"/>
          </p:nvPr>
        </p:nvSpPr>
        <p:spPr>
          <a:xfrm>
            <a:off x="2743200" y="5760720"/>
            <a:ext cx="12801600" cy="25717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8"/>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3329276" y="294775"/>
            <a:ext cx="11629447" cy="7874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b="1" i="0">
                <a:solidFill>
                  <a:srgbClr val="7B16AC"/>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9"/>
          <p:cNvSpPr txBox="1">
            <a:spLocks noGrp="1"/>
          </p:cNvSpPr>
          <p:nvPr>
            <p:ph type="body" idx="1"/>
          </p:nvPr>
        </p:nvSpPr>
        <p:spPr>
          <a:xfrm>
            <a:off x="914400" y="2366010"/>
            <a:ext cx="7955280" cy="678942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9"/>
          <p:cNvSpPr txBox="1">
            <a:spLocks noGrp="1"/>
          </p:cNvSpPr>
          <p:nvPr>
            <p:ph type="body" idx="2"/>
          </p:nvPr>
        </p:nvSpPr>
        <p:spPr>
          <a:xfrm>
            <a:off x="9418320" y="2366010"/>
            <a:ext cx="7955280" cy="678942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7" name="Google Shape;27;p9"/>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9"/>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9"/>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0"/>
        <p:cNvGrpSpPr/>
        <p:nvPr/>
      </p:nvGrpSpPr>
      <p:grpSpPr>
        <a:xfrm>
          <a:off x="0" y="0"/>
          <a:ext cx="0" cy="0"/>
          <a:chOff x="0" y="0"/>
          <a:chExt cx="0" cy="0"/>
        </a:xfrm>
      </p:grpSpPr>
      <p:sp>
        <p:nvSpPr>
          <p:cNvPr id="31" name="Google Shape;31;p10"/>
          <p:cNvSpPr txBox="1">
            <a:spLocks noGrp="1"/>
          </p:cNvSpPr>
          <p:nvPr>
            <p:ph type="title"/>
          </p:nvPr>
        </p:nvSpPr>
        <p:spPr>
          <a:xfrm>
            <a:off x="3329276" y="294775"/>
            <a:ext cx="11629447" cy="7874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b="1" i="0">
                <a:solidFill>
                  <a:srgbClr val="7B16AC"/>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0"/>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0"/>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5"/>
        <p:cNvGrpSpPr/>
        <p:nvPr/>
      </p:nvGrpSpPr>
      <p:grpSpPr>
        <a:xfrm>
          <a:off x="0" y="0"/>
          <a:ext cx="0" cy="0"/>
          <a:chOff x="0" y="0"/>
          <a:chExt cx="0" cy="0"/>
        </a:xfrm>
      </p:grpSpPr>
      <p:sp>
        <p:nvSpPr>
          <p:cNvPr id="36" name="Google Shape;36;p11"/>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1"/>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1"/>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3329276" y="294775"/>
            <a:ext cx="11629447" cy="7874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5000" b="1" i="0" u="none" strike="noStrike" cap="none">
                <a:solidFill>
                  <a:srgbClr val="7B16AC"/>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914400" y="2366010"/>
            <a:ext cx="16459200" cy="678942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 name="Google Shape;8;p6"/>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b="0" i="0" u="none" strike="noStrike" cap="none">
                <a:solidFill>
                  <a:srgbClr val="888888"/>
                </a:solidFill>
                <a:latin typeface="Calibri"/>
                <a:ea typeface="Calibri"/>
                <a:cs typeface="Calibri"/>
                <a:sym typeface="Calibri"/>
              </a:defRPr>
            </a:lvl1pPr>
            <a:lvl2pPr marL="0" marR="0" lvl="1" indent="0" algn="r" rtl="0">
              <a:spcBef>
                <a:spcPts val="0"/>
              </a:spcBef>
              <a:buNone/>
              <a:defRPr sz="1800" b="0" i="0" u="none" strike="noStrike" cap="none">
                <a:solidFill>
                  <a:srgbClr val="888888"/>
                </a:solidFill>
                <a:latin typeface="Calibri"/>
                <a:ea typeface="Calibri"/>
                <a:cs typeface="Calibri"/>
                <a:sym typeface="Calibri"/>
              </a:defRPr>
            </a:lvl2pPr>
            <a:lvl3pPr marL="0" marR="0" lvl="2" indent="0" algn="r" rtl="0">
              <a:spcBef>
                <a:spcPts val="0"/>
              </a:spcBef>
              <a:buNone/>
              <a:defRPr sz="1800" b="0" i="0" u="none" strike="noStrike" cap="none">
                <a:solidFill>
                  <a:srgbClr val="888888"/>
                </a:solidFill>
                <a:latin typeface="Calibri"/>
                <a:ea typeface="Calibri"/>
                <a:cs typeface="Calibri"/>
                <a:sym typeface="Calibri"/>
              </a:defRPr>
            </a:lvl3pPr>
            <a:lvl4pPr marL="0" marR="0" lvl="3" indent="0" algn="r" rtl="0">
              <a:spcBef>
                <a:spcPts val="0"/>
              </a:spcBef>
              <a:buNone/>
              <a:defRPr sz="1800" b="0" i="0" u="none" strike="noStrike" cap="none">
                <a:solidFill>
                  <a:srgbClr val="888888"/>
                </a:solidFill>
                <a:latin typeface="Calibri"/>
                <a:ea typeface="Calibri"/>
                <a:cs typeface="Calibri"/>
                <a:sym typeface="Calibri"/>
              </a:defRPr>
            </a:lvl4pPr>
            <a:lvl5pPr marL="0" marR="0" lvl="4" indent="0" algn="r" rtl="0">
              <a:spcBef>
                <a:spcPts val="0"/>
              </a:spcBef>
              <a:buNone/>
              <a:defRPr sz="1800" b="0" i="0" u="none" strike="noStrike" cap="none">
                <a:solidFill>
                  <a:srgbClr val="888888"/>
                </a:solidFill>
                <a:latin typeface="Calibri"/>
                <a:ea typeface="Calibri"/>
                <a:cs typeface="Calibri"/>
                <a:sym typeface="Calibri"/>
              </a:defRPr>
            </a:lvl5pPr>
            <a:lvl6pPr marL="0" marR="0" lvl="5" indent="0" algn="r" rtl="0">
              <a:spcBef>
                <a:spcPts val="0"/>
              </a:spcBef>
              <a:buNone/>
              <a:defRPr sz="1800" b="0" i="0" u="none" strike="noStrike" cap="none">
                <a:solidFill>
                  <a:srgbClr val="888888"/>
                </a:solidFill>
                <a:latin typeface="Calibri"/>
                <a:ea typeface="Calibri"/>
                <a:cs typeface="Calibri"/>
                <a:sym typeface="Calibri"/>
              </a:defRPr>
            </a:lvl6pPr>
            <a:lvl7pPr marL="0" marR="0" lvl="6" indent="0" algn="r" rtl="0">
              <a:spcBef>
                <a:spcPts val="0"/>
              </a:spcBef>
              <a:buNone/>
              <a:defRPr sz="1800" b="0" i="0" u="none" strike="noStrike" cap="none">
                <a:solidFill>
                  <a:srgbClr val="888888"/>
                </a:solidFill>
                <a:latin typeface="Calibri"/>
                <a:ea typeface="Calibri"/>
                <a:cs typeface="Calibri"/>
                <a:sym typeface="Calibri"/>
              </a:defRPr>
            </a:lvl7pPr>
            <a:lvl8pPr marL="0" marR="0" lvl="7" indent="0" algn="r" rtl="0">
              <a:spcBef>
                <a:spcPts val="0"/>
              </a:spcBef>
              <a:buNone/>
              <a:defRPr sz="1800" b="0" i="0" u="none" strike="noStrike" cap="none">
                <a:solidFill>
                  <a:srgbClr val="888888"/>
                </a:solidFill>
                <a:latin typeface="Calibri"/>
                <a:ea typeface="Calibri"/>
                <a:cs typeface="Calibri"/>
                <a:sym typeface="Calibri"/>
              </a:defRPr>
            </a:lvl8pPr>
            <a:lvl9pPr marL="0" marR="0" lvl="8" indent="0" algn="r" rtl="0">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jpg"/><Relationship Id="rId5" Type="http://schemas.openxmlformats.org/officeDocument/2006/relationships/image" Target="../media/image2.png"/><Relationship Id="rId4" Type="http://schemas.openxmlformats.org/officeDocument/2006/relationships/hyperlink" Target="mailto:akilalourdes@gmail.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2"/>
        <p:cNvGrpSpPr/>
        <p:nvPr/>
      </p:nvGrpSpPr>
      <p:grpSpPr>
        <a:xfrm>
          <a:off x="0" y="0"/>
          <a:ext cx="0" cy="0"/>
          <a:chOff x="0" y="0"/>
          <a:chExt cx="0" cy="0"/>
        </a:xfrm>
      </p:grpSpPr>
      <p:sp>
        <p:nvSpPr>
          <p:cNvPr id="43" name="Google Shape;43;p1"/>
          <p:cNvSpPr/>
          <p:nvPr/>
        </p:nvSpPr>
        <p:spPr>
          <a:xfrm>
            <a:off x="0" y="7772579"/>
            <a:ext cx="18288000" cy="2514600"/>
          </a:xfrm>
          <a:custGeom>
            <a:avLst/>
            <a:gdLst/>
            <a:ahLst/>
            <a:cxnLst/>
            <a:rect l="l" t="t" r="r" b="b"/>
            <a:pathLst>
              <a:path w="18288000" h="2514600" extrusionOk="0">
                <a:moveTo>
                  <a:pt x="18287998" y="2514599"/>
                </a:moveTo>
                <a:lnTo>
                  <a:pt x="0" y="2514599"/>
                </a:lnTo>
                <a:lnTo>
                  <a:pt x="0" y="0"/>
                </a:lnTo>
                <a:lnTo>
                  <a:pt x="18287998" y="0"/>
                </a:lnTo>
                <a:lnTo>
                  <a:pt x="18287998" y="2514599"/>
                </a:lnTo>
                <a:close/>
              </a:path>
            </a:pathLst>
          </a:custGeom>
          <a:solidFill>
            <a:srgbClr val="99D9D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4" name="Google Shape;44;p1"/>
          <p:cNvPicPr preferRelativeResize="0"/>
          <p:nvPr/>
        </p:nvPicPr>
        <p:blipFill rotWithShape="1">
          <a:blip r:embed="rId3">
            <a:alphaModFix/>
          </a:blip>
          <a:srcRect/>
          <a:stretch/>
        </p:blipFill>
        <p:spPr>
          <a:xfrm>
            <a:off x="1509837" y="136528"/>
            <a:ext cx="1190624" cy="1381124"/>
          </a:xfrm>
          <a:prstGeom prst="rect">
            <a:avLst/>
          </a:prstGeom>
          <a:noFill/>
          <a:ln>
            <a:noFill/>
          </a:ln>
        </p:spPr>
      </p:pic>
      <p:sp>
        <p:nvSpPr>
          <p:cNvPr id="46" name="Google Shape;46;p1"/>
          <p:cNvSpPr txBox="1"/>
          <p:nvPr/>
        </p:nvSpPr>
        <p:spPr>
          <a:xfrm>
            <a:off x="5699387" y="7902253"/>
            <a:ext cx="11184890" cy="689932"/>
          </a:xfrm>
          <a:prstGeom prst="rect">
            <a:avLst/>
          </a:prstGeom>
          <a:noFill/>
          <a:ln>
            <a:noFill/>
          </a:ln>
        </p:spPr>
        <p:txBody>
          <a:bodyPr spcFirstLastPara="1" wrap="square" lIns="0" tIns="165100" rIns="0" bIns="0" anchor="t" anchorCtr="0">
            <a:spAutoFit/>
          </a:bodyPr>
          <a:lstStyle/>
          <a:p>
            <a:pPr marL="2502535" marR="5080" lvl="0" indent="-2490470" algn="l" rtl="0">
              <a:lnSpc>
                <a:spcPct val="100000"/>
              </a:lnSpc>
              <a:spcBef>
                <a:spcPts val="0"/>
              </a:spcBef>
              <a:spcAft>
                <a:spcPts val="0"/>
              </a:spcAft>
              <a:buNone/>
            </a:pPr>
            <a:r>
              <a:rPr sz="3400" b="1" dirty="0">
                <a:latin typeface="Times New Roman" panose="02020603050405020304" pitchFamily="18" charset="0"/>
                <a:cs typeface="Times New Roman" panose="02020603050405020304" pitchFamily="18" charset="0"/>
              </a:rPr>
              <a:t>ML‑POWERED ADAPTIVE QUIZ COACH</a:t>
            </a:r>
            <a:endParaRPr sz="6000" dirty="0">
              <a:solidFill>
                <a:schemeClr val="dk1"/>
              </a:solidFill>
              <a:latin typeface="Times New Roman" panose="02020603050405020304" pitchFamily="18" charset="0"/>
              <a:ea typeface="Trebuchet MS"/>
              <a:cs typeface="Times New Roman" panose="02020603050405020304" pitchFamily="18" charset="0"/>
              <a:sym typeface="Trebuchet MS"/>
            </a:endParaRPr>
          </a:p>
        </p:txBody>
      </p:sp>
      <p:sp>
        <p:nvSpPr>
          <p:cNvPr id="47" name="Google Shape;47;p1"/>
          <p:cNvSpPr txBox="1">
            <a:spLocks noGrp="1"/>
          </p:cNvSpPr>
          <p:nvPr>
            <p:ph type="title"/>
          </p:nvPr>
        </p:nvSpPr>
        <p:spPr>
          <a:xfrm>
            <a:off x="3329276" y="294775"/>
            <a:ext cx="11629447" cy="7874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PANIMALAR ENGINEERING COLLEGE</a:t>
            </a:r>
            <a:endParaRPr/>
          </a:p>
        </p:txBody>
      </p:sp>
      <p:sp>
        <p:nvSpPr>
          <p:cNvPr id="48" name="Google Shape;48;p1"/>
          <p:cNvSpPr txBox="1"/>
          <p:nvPr/>
        </p:nvSpPr>
        <p:spPr>
          <a:xfrm>
            <a:off x="6454049" y="1185564"/>
            <a:ext cx="4334510" cy="6654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200" b="1">
                <a:solidFill>
                  <a:srgbClr val="99B83C"/>
                </a:solidFill>
                <a:latin typeface="Trebuchet MS"/>
                <a:ea typeface="Trebuchet MS"/>
                <a:cs typeface="Trebuchet MS"/>
                <a:sym typeface="Trebuchet MS"/>
              </a:rPr>
              <a:t>IDEATHON 2022</a:t>
            </a:r>
            <a:endParaRPr sz="4200">
              <a:solidFill>
                <a:schemeClr val="dk1"/>
              </a:solidFill>
              <a:latin typeface="Trebuchet MS"/>
              <a:ea typeface="Trebuchet MS"/>
              <a:cs typeface="Trebuchet MS"/>
              <a:sym typeface="Trebuchet MS"/>
            </a:endParaRPr>
          </a:p>
        </p:txBody>
      </p:sp>
      <p:sp>
        <p:nvSpPr>
          <p:cNvPr id="49" name="Google Shape;49;p1"/>
          <p:cNvSpPr txBox="1"/>
          <p:nvPr/>
        </p:nvSpPr>
        <p:spPr>
          <a:xfrm>
            <a:off x="1136700" y="3831337"/>
            <a:ext cx="4883100" cy="1627556"/>
          </a:xfrm>
          <a:prstGeom prst="rect">
            <a:avLst/>
          </a:prstGeom>
          <a:noFill/>
          <a:ln>
            <a:noFill/>
          </a:ln>
        </p:spPr>
        <p:txBody>
          <a:bodyPr spcFirstLastPara="1" wrap="square" lIns="0" tIns="214625" rIns="0" bIns="0" anchor="t" anchorCtr="0">
            <a:spAutoFit/>
          </a:bodyPr>
          <a:lstStyle/>
          <a:p>
            <a:pPr marL="0" marR="0" lvl="0" indent="0" algn="ctr" rtl="0">
              <a:lnSpc>
                <a:spcPct val="100000"/>
              </a:lnSpc>
              <a:spcBef>
                <a:spcPts val="0"/>
              </a:spcBef>
              <a:spcAft>
                <a:spcPts val="0"/>
              </a:spcAft>
              <a:buNone/>
            </a:pPr>
            <a:r>
              <a:rPr lang="en-US" sz="3200" b="1" dirty="0">
                <a:solidFill>
                  <a:schemeClr val="dk1"/>
                </a:solidFill>
                <a:latin typeface="Tahoma"/>
                <a:ea typeface="Tahoma"/>
                <a:cs typeface="Tahoma"/>
                <a:sym typeface="Tahoma"/>
              </a:rPr>
              <a:t>Akila Lourdes M.F</a:t>
            </a:r>
            <a:endParaRPr sz="3200" dirty="0">
              <a:solidFill>
                <a:schemeClr val="dk1"/>
              </a:solidFill>
              <a:latin typeface="Tahoma"/>
              <a:ea typeface="Tahoma"/>
              <a:cs typeface="Tahoma"/>
              <a:sym typeface="Tahoma"/>
            </a:endParaRPr>
          </a:p>
          <a:p>
            <a:pPr marL="1350010" marR="1342390" lvl="0" indent="0" algn="ctr" rtl="0">
              <a:lnSpc>
                <a:spcPct val="106800"/>
              </a:lnSpc>
              <a:spcBef>
                <a:spcPts val="994"/>
              </a:spcBef>
              <a:spcAft>
                <a:spcPts val="0"/>
              </a:spcAft>
              <a:buNone/>
            </a:pPr>
            <a:r>
              <a:rPr lang="en-US" sz="2400" dirty="0">
                <a:solidFill>
                  <a:schemeClr val="dk1"/>
                </a:solidFill>
                <a:latin typeface="Trebuchet MS"/>
                <a:ea typeface="Trebuchet MS"/>
                <a:cs typeface="Trebuchet MS"/>
                <a:sym typeface="Trebuchet MS"/>
              </a:rPr>
              <a:t> III CSE A</a:t>
            </a:r>
            <a:endParaRPr sz="2400" dirty="0">
              <a:solidFill>
                <a:schemeClr val="dk1"/>
              </a:solidFill>
              <a:latin typeface="Trebuchet MS"/>
              <a:ea typeface="Trebuchet MS"/>
              <a:cs typeface="Trebuchet MS"/>
              <a:sym typeface="Trebuchet MS"/>
            </a:endParaRPr>
          </a:p>
          <a:p>
            <a:pPr marL="0" marR="0" lvl="0" indent="0" algn="ctr" rtl="0">
              <a:lnSpc>
                <a:spcPct val="100000"/>
              </a:lnSpc>
              <a:spcBef>
                <a:spcPts val="195"/>
              </a:spcBef>
              <a:spcAft>
                <a:spcPts val="0"/>
              </a:spcAft>
              <a:buNone/>
            </a:pPr>
            <a:r>
              <a:rPr lang="en-US" sz="2400" u="sng" dirty="0">
                <a:solidFill>
                  <a:schemeClr val="dk1"/>
                </a:solidFill>
                <a:latin typeface="Trebuchet MS"/>
                <a:ea typeface="Trebuchet MS"/>
                <a:cs typeface="Trebuchet MS"/>
                <a:sym typeface="Trebuchet MS"/>
                <a:hlinkClick r:id="rId4">
                  <a:extLst>
                    <a:ext uri="{A12FA001-AC4F-418D-AE19-62706E023703}">
                      <ahyp:hlinkClr xmlns:ahyp="http://schemas.microsoft.com/office/drawing/2018/hyperlinkcolor" val="tx"/>
                    </a:ext>
                  </a:extLst>
                </a:hlinkClick>
              </a:rPr>
              <a:t>akilalourdes@gmail.com</a:t>
            </a:r>
            <a:endParaRPr sz="2400" dirty="0">
              <a:solidFill>
                <a:schemeClr val="dk1"/>
              </a:solidFill>
              <a:latin typeface="Trebuchet MS"/>
              <a:ea typeface="Trebuchet MS"/>
              <a:cs typeface="Trebuchet MS"/>
              <a:sym typeface="Trebuchet MS"/>
            </a:endParaRPr>
          </a:p>
        </p:txBody>
      </p:sp>
      <p:sp>
        <p:nvSpPr>
          <p:cNvPr id="50" name="Google Shape;50;p1"/>
          <p:cNvSpPr txBox="1"/>
          <p:nvPr/>
        </p:nvSpPr>
        <p:spPr>
          <a:xfrm>
            <a:off x="13106400" y="1576234"/>
            <a:ext cx="3332400" cy="32060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sz="2000" b="1" dirty="0">
                <a:latin typeface="Calibri"/>
              </a:rPr>
              <a:t>Team Name: A</a:t>
            </a:r>
            <a:r>
              <a:rPr lang="en-US" sz="2000" b="1" dirty="0">
                <a:latin typeface="Calibri"/>
              </a:rPr>
              <a:t>CFL</a:t>
            </a:r>
            <a:endParaRPr sz="2400" dirty="0">
              <a:solidFill>
                <a:schemeClr val="dk1"/>
              </a:solidFill>
              <a:latin typeface="Trebuchet MS"/>
              <a:ea typeface="Trebuchet MS"/>
              <a:cs typeface="Trebuchet MS"/>
              <a:sym typeface="Trebuchet MS"/>
            </a:endParaRPr>
          </a:p>
        </p:txBody>
      </p:sp>
      <p:pic>
        <p:nvPicPr>
          <p:cNvPr id="51" name="Google Shape;51;p1"/>
          <p:cNvPicPr preferRelativeResize="0"/>
          <p:nvPr/>
        </p:nvPicPr>
        <p:blipFill rotWithShape="1">
          <a:blip r:embed="rId5">
            <a:alphaModFix/>
          </a:blip>
          <a:srcRect/>
          <a:stretch/>
        </p:blipFill>
        <p:spPr>
          <a:xfrm>
            <a:off x="8100513" y="1986696"/>
            <a:ext cx="2678521" cy="5654656"/>
          </a:xfrm>
          <a:prstGeom prst="rect">
            <a:avLst/>
          </a:prstGeom>
          <a:noFill/>
          <a:ln>
            <a:noFill/>
          </a:ln>
        </p:spPr>
      </p:pic>
      <p:pic>
        <p:nvPicPr>
          <p:cNvPr id="52" name="Google Shape;52;p1" descr="See the source image"/>
          <p:cNvPicPr preferRelativeResize="0"/>
          <p:nvPr/>
        </p:nvPicPr>
        <p:blipFill rotWithShape="1">
          <a:blip r:embed="rId6">
            <a:alphaModFix/>
          </a:blip>
          <a:srcRect/>
          <a:stretch/>
        </p:blipFill>
        <p:spPr>
          <a:xfrm>
            <a:off x="11734800" y="2098621"/>
            <a:ext cx="5460446" cy="5460446"/>
          </a:xfrm>
          <a:prstGeom prst="rect">
            <a:avLst/>
          </a:prstGeom>
          <a:noFill/>
          <a:ln>
            <a:noFill/>
          </a:ln>
        </p:spPr>
      </p:pic>
      <p:sp>
        <p:nvSpPr>
          <p:cNvPr id="53" name="TextBox 52"/>
          <p:cNvSpPr txBox="1"/>
          <p:nvPr/>
        </p:nvSpPr>
        <p:spPr>
          <a:xfrm>
            <a:off x="6393908" y="8582498"/>
            <a:ext cx="11430000" cy="400110"/>
          </a:xfrm>
          <a:prstGeom prst="rect">
            <a:avLst/>
          </a:prstGeom>
          <a:noFill/>
        </p:spPr>
        <p:txBody>
          <a:bodyPr wrap="square">
            <a:spAutoFit/>
          </a:bodyPr>
          <a:lstStyle/>
          <a:p>
            <a:pPr algn="l"/>
            <a:r>
              <a:rPr sz="2000" b="0" dirty="0">
                <a:latin typeface="Times New Roman" panose="02020603050405020304" pitchFamily="18" charset="0"/>
                <a:cs typeface="Times New Roman" panose="02020603050405020304" pitchFamily="18" charset="0"/>
              </a:rPr>
              <a:t>Personalized practice • Weakness diagnosis • Score prediction</a:t>
            </a:r>
          </a:p>
        </p:txBody>
      </p:sp>
      <p:sp>
        <p:nvSpPr>
          <p:cNvPr id="3" name="Rectangle 1">
            <a:extLst>
              <a:ext uri="{FF2B5EF4-FFF2-40B4-BE49-F238E27FC236}">
                <a16:creationId xmlns:a16="http://schemas.microsoft.com/office/drawing/2014/main" id="{B9257FFB-6436-A573-069E-D5578BED9674}"/>
              </a:ext>
            </a:extLst>
          </p:cNvPr>
          <p:cNvSpPr>
            <a:spLocks noChangeArrowheads="1"/>
          </p:cNvSpPr>
          <p:nvPr/>
        </p:nvSpPr>
        <p:spPr bwMode="auto">
          <a:xfrm>
            <a:off x="4137131" y="9185596"/>
            <a:ext cx="11430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Adaptive exam‑prep app that selects the next question using ML (not fixed order).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Targets weak concepts, keeps difficulty in flow zone, and shows mastery + readiness analytics.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56"/>
        <p:cNvGrpSpPr/>
        <p:nvPr/>
      </p:nvGrpSpPr>
      <p:grpSpPr>
        <a:xfrm>
          <a:off x="0" y="0"/>
          <a:ext cx="0" cy="0"/>
          <a:chOff x="0" y="0"/>
          <a:chExt cx="0" cy="0"/>
        </a:xfrm>
      </p:grpSpPr>
      <p:sp>
        <p:nvSpPr>
          <p:cNvPr id="58" name="Google Shape;58;p2"/>
          <p:cNvSpPr txBox="1">
            <a:spLocks noGrp="1"/>
          </p:cNvSpPr>
          <p:nvPr>
            <p:ph type="title"/>
          </p:nvPr>
        </p:nvSpPr>
        <p:spPr>
          <a:xfrm>
            <a:off x="412955" y="174397"/>
            <a:ext cx="15571469" cy="474489"/>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3000" b="1" dirty="0">
                <a:latin typeface="Times New Roman" panose="02020603050405020304" pitchFamily="18" charset="0"/>
                <a:cs typeface="Times New Roman" panose="02020603050405020304" pitchFamily="18" charset="0"/>
              </a:rPr>
              <a:t>Problem</a:t>
            </a:r>
            <a:endParaRPr u="sng" dirty="0">
              <a:solidFill>
                <a:srgbClr val="000000"/>
              </a:solidFill>
              <a:latin typeface="Times New Roman" panose="02020603050405020304" pitchFamily="18" charset="0"/>
              <a:cs typeface="Times New Roman" panose="02020603050405020304" pitchFamily="18" charset="0"/>
            </a:endParaRPr>
          </a:p>
        </p:txBody>
      </p:sp>
      <p:sp>
        <p:nvSpPr>
          <p:cNvPr id="59" name="Google Shape;59;p2"/>
          <p:cNvSpPr/>
          <p:nvPr/>
        </p:nvSpPr>
        <p:spPr>
          <a:xfrm>
            <a:off x="0" y="7924800"/>
            <a:ext cx="18288000" cy="2363593"/>
          </a:xfrm>
          <a:custGeom>
            <a:avLst/>
            <a:gdLst/>
            <a:ahLst/>
            <a:cxnLst/>
            <a:rect l="l" t="t" r="r" b="b"/>
            <a:pathLst>
              <a:path w="18288000" h="1590675" extrusionOk="0">
                <a:moveTo>
                  <a:pt x="18287998" y="1590674"/>
                </a:moveTo>
                <a:lnTo>
                  <a:pt x="0" y="1590674"/>
                </a:lnTo>
                <a:lnTo>
                  <a:pt x="0" y="0"/>
                </a:lnTo>
                <a:lnTo>
                  <a:pt x="18287998" y="0"/>
                </a:lnTo>
                <a:lnTo>
                  <a:pt x="18287998" y="1590674"/>
                </a:lnTo>
                <a:close/>
              </a:path>
            </a:pathLst>
          </a:custGeom>
          <a:solidFill>
            <a:srgbClr val="99B83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 name="Rectangle 3">
            <a:extLst>
              <a:ext uri="{FF2B5EF4-FFF2-40B4-BE49-F238E27FC236}">
                <a16:creationId xmlns:a16="http://schemas.microsoft.com/office/drawing/2014/main" id="{C5036259-535A-F94A-F1AB-E038090D84CA}"/>
              </a:ext>
            </a:extLst>
          </p:cNvPr>
          <p:cNvSpPr>
            <a:spLocks noChangeArrowheads="1"/>
          </p:cNvSpPr>
          <p:nvPr/>
        </p:nvSpPr>
        <p:spPr bwMode="auto">
          <a:xfrm rot="10800000" flipV="1">
            <a:off x="1038122" y="648886"/>
            <a:ext cx="16211755" cy="104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effectLst/>
                <a:latin typeface="Times New Roman" panose="02020603050405020304" pitchFamily="18" charset="0"/>
                <a:cs typeface="Times New Roman" panose="02020603050405020304" pitchFamily="18" charset="0"/>
              </a:rPr>
              <a:t>One-size-fits-all sequencing wastes study time:</a:t>
            </a:r>
            <a: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t> Most quiz apps use a fixed chapter order or a simple NEXT/PREV flow, so every learner sees the same sequence regardless of background. A student who is weak in fundamentals gets pushed forward too early, while a strong student repeats easy items, both cases lead to unnecessary practice volume with lower learning return.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effectLst/>
                <a:latin typeface="Times New Roman" panose="02020603050405020304" pitchFamily="18" charset="0"/>
                <a:cs typeface="Times New Roman" panose="02020603050405020304" pitchFamily="18" charset="0"/>
              </a:rPr>
              <a:t>No true mastery model (only “% correct”):</a:t>
            </a:r>
            <a: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t> Typical apps track overall accuracy but don’t maintain a reliable </a:t>
            </a:r>
            <a:r>
              <a:rPr kumimoji="0" lang="en-US" altLang="en-US" sz="2800" b="1" i="0" u="none" strike="noStrike" cap="none" normalizeH="0" baseline="0" dirty="0">
                <a:ln>
                  <a:noFill/>
                </a:ln>
                <a:effectLst/>
                <a:latin typeface="Times New Roman" panose="02020603050405020304" pitchFamily="18" charset="0"/>
                <a:cs typeface="Times New Roman" panose="02020603050405020304" pitchFamily="18" charset="0"/>
              </a:rPr>
              <a:t>topic/skill mastery state</a:t>
            </a:r>
            <a: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t>. That means the app can’t answer basic questions like: </a:t>
            </a:r>
            <a:r>
              <a:rPr kumimoji="0" lang="en-US" altLang="en-US" sz="2800" b="0" i="1" u="none" strike="noStrike" cap="none" normalizeH="0" baseline="0" dirty="0">
                <a:ln>
                  <a:noFill/>
                </a:ln>
                <a:effectLst/>
                <a:latin typeface="Times New Roman" panose="02020603050405020304" pitchFamily="18" charset="0"/>
                <a:cs typeface="Times New Roman" panose="02020603050405020304" pitchFamily="18" charset="0"/>
              </a:rPr>
              <a:t>Which concepts are actually weak? Which are improving? Which are uncertain due to few attempts?</a:t>
            </a:r>
            <a: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t> Without mastery estimates, practice becomes broad and inefficient rather than targeted.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effectLst/>
                <a:latin typeface="Times New Roman" panose="02020603050405020304" pitchFamily="18" charset="0"/>
                <a:cs typeface="Times New Roman" panose="02020603050405020304" pitchFamily="18" charset="0"/>
              </a:rPr>
              <a:t>Difficulty mismatch breaks engagement and learning quality:</a:t>
            </a:r>
            <a: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t> Difficulty labels are often manual and noisy, and fixed difficulty progression doesn’t adapt to the learner. This creates two failure modes: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effectLst/>
                <a:latin typeface="Times New Roman" panose="02020603050405020304" pitchFamily="18" charset="0"/>
                <a:cs typeface="Times New Roman" panose="02020603050405020304" pitchFamily="18" charset="0"/>
              </a:rPr>
              <a:t>Too easy:</a:t>
            </a:r>
            <a: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t> boredom, inflated confidence, low learning gain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effectLst/>
                <a:latin typeface="Times New Roman" panose="02020603050405020304" pitchFamily="18" charset="0"/>
                <a:cs typeface="Times New Roman" panose="02020603050405020304" pitchFamily="18" charset="0"/>
              </a:rPr>
              <a:t>Too hard:</a:t>
            </a:r>
            <a: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t> frustration, repeated failures, higher dropout</a:t>
            </a:r>
            <a:b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t>The app fails to keep users in the productive “challenge zone” where learning is maximized.</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effectLst/>
                <a:latin typeface="Times New Roman" panose="02020603050405020304" pitchFamily="18" charset="0"/>
                <a:cs typeface="Times New Roman" panose="02020603050405020304" pitchFamily="18" charset="0"/>
              </a:rPr>
              <a:t>No diagnostic + planning layer:</a:t>
            </a:r>
            <a: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t> Students don’t get </a:t>
            </a:r>
            <a:r>
              <a:rPr kumimoji="0" lang="en-US" altLang="en-US" sz="2800" b="1" i="0" u="none" strike="noStrike" cap="none" normalizeH="0" baseline="0" dirty="0">
                <a:ln>
                  <a:noFill/>
                </a:ln>
                <a:effectLst/>
                <a:latin typeface="Times New Roman" panose="02020603050405020304" pitchFamily="18" charset="0"/>
                <a:cs typeface="Times New Roman" panose="02020603050405020304" pitchFamily="18" charset="0"/>
              </a:rPr>
              <a:t>topic-wise diagnosis</a:t>
            </a:r>
            <a: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800" b="1" i="0" u="none" strike="noStrike" cap="none" normalizeH="0" baseline="0" dirty="0">
                <a:ln>
                  <a:noFill/>
                </a:ln>
                <a:effectLst/>
                <a:latin typeface="Times New Roman" panose="02020603050405020304" pitchFamily="18" charset="0"/>
                <a:cs typeface="Times New Roman" panose="02020603050405020304" pitchFamily="18" charset="0"/>
              </a:rPr>
              <a:t>readiness forecasting</a:t>
            </a:r>
            <a: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t>, or a </a:t>
            </a:r>
            <a:r>
              <a:rPr kumimoji="0" lang="en-US" altLang="en-US" sz="2800" b="1" i="0" u="none" strike="noStrike" cap="none" normalizeH="0" baseline="0" dirty="0">
                <a:ln>
                  <a:noFill/>
                </a:ln>
                <a:effectLst/>
                <a:latin typeface="Times New Roman" panose="02020603050405020304" pitchFamily="18" charset="0"/>
                <a:cs typeface="Times New Roman" panose="02020603050405020304" pitchFamily="18" charset="0"/>
              </a:rPr>
              <a:t>personalized study plan</a:t>
            </a:r>
            <a: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t>. Instead of being told </a:t>
            </a:r>
            <a:r>
              <a:rPr kumimoji="0" lang="en-US" altLang="en-US" sz="2800" b="0" i="1" u="none" strike="noStrike" cap="none" normalizeH="0" baseline="0" dirty="0">
                <a:ln>
                  <a:noFill/>
                </a:ln>
                <a:effectLst/>
                <a:latin typeface="Times New Roman" panose="02020603050405020304" pitchFamily="18" charset="0"/>
                <a:cs typeface="Times New Roman" panose="02020603050405020304" pitchFamily="18" charset="0"/>
              </a:rPr>
              <a:t>what to do next</a:t>
            </a:r>
            <a: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t> and </a:t>
            </a:r>
            <a:r>
              <a:rPr kumimoji="0" lang="en-US" altLang="en-US" sz="2800" b="0" i="1" u="none" strike="noStrike" cap="none" normalizeH="0" baseline="0" dirty="0">
                <a:ln>
                  <a:noFill/>
                </a:ln>
                <a:effectLst/>
                <a:latin typeface="Times New Roman" panose="02020603050405020304" pitchFamily="18" charset="0"/>
                <a:cs typeface="Times New Roman" panose="02020603050405020304" pitchFamily="18" charset="0"/>
              </a:rPr>
              <a:t>why</a:t>
            </a:r>
            <a: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t>, they must guess: which topics to prioritize, how much practice is enough, and whether they’re on track for the target score, leading to inconsistent preparation and poor retention.</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64;p3">
            <a:extLst>
              <a:ext uri="{FF2B5EF4-FFF2-40B4-BE49-F238E27FC236}">
                <a16:creationId xmlns:a16="http://schemas.microsoft.com/office/drawing/2014/main" id="{644D61FE-2F19-2087-905A-A68B451F93C8}"/>
              </a:ext>
            </a:extLst>
          </p:cNvPr>
          <p:cNvSpPr/>
          <p:nvPr/>
        </p:nvSpPr>
        <p:spPr>
          <a:xfrm>
            <a:off x="0" y="9347200"/>
            <a:ext cx="18288000" cy="939900"/>
          </a:xfrm>
          <a:custGeom>
            <a:avLst/>
            <a:gdLst/>
            <a:ahLst/>
            <a:cxnLst/>
            <a:rect l="l" t="t" r="r" b="b"/>
            <a:pathLst>
              <a:path w="18288000" h="1816100" extrusionOk="0">
                <a:moveTo>
                  <a:pt x="0" y="0"/>
                </a:moveTo>
                <a:lnTo>
                  <a:pt x="18287999" y="0"/>
                </a:lnTo>
                <a:lnTo>
                  <a:pt x="18287999" y="1815999"/>
                </a:lnTo>
                <a:lnTo>
                  <a:pt x="0" y="1815999"/>
                </a:lnTo>
                <a:lnTo>
                  <a:pt x="0" y="0"/>
                </a:lnTo>
                <a:close/>
              </a:path>
            </a:pathLst>
          </a:custGeom>
          <a:solidFill>
            <a:srgbClr val="D0A2E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 name="Title 1"/>
          <p:cNvSpPr>
            <a:spLocks noGrp="1"/>
          </p:cNvSpPr>
          <p:nvPr>
            <p:ph type="title"/>
          </p:nvPr>
        </p:nvSpPr>
        <p:spPr>
          <a:xfrm>
            <a:off x="535276" y="320175"/>
            <a:ext cx="11629447" cy="584775"/>
          </a:xfrm>
        </p:spPr>
        <p:txBody>
          <a:bodyPr/>
          <a:lstStyle/>
          <a:p>
            <a:r>
              <a:rPr lang="en-US" sz="3800" dirty="0">
                <a:latin typeface="Times New Roman" panose="02020603050405020304" pitchFamily="18" charset="0"/>
                <a:cs typeface="Times New Roman" panose="02020603050405020304" pitchFamily="18" charset="0"/>
              </a:rPr>
              <a:t>Solution</a:t>
            </a:r>
            <a:endParaRPr sz="38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4CBA9D9F-2A5C-F2A4-FF3D-1FF86976EDCE}"/>
              </a:ext>
            </a:extLst>
          </p:cNvPr>
          <p:cNvSpPr>
            <a:spLocks noChangeArrowheads="1"/>
          </p:cNvSpPr>
          <p:nvPr/>
        </p:nvSpPr>
        <p:spPr bwMode="auto">
          <a:xfrm>
            <a:off x="887124" y="673461"/>
            <a:ext cx="16865600" cy="9140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Adaptive learning loop (closed-loop personalization):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Instead of a fixed question order, the app runs a continuous coaching loop after every attempt: the learner answers a question → the system updates the learner’s mastery state (per topic/skill) → it selects the next best question based on weakness and difficulty fit → it delivers instant feedback with the right explanation → and it updates the study plan dynamically. This turns practice into a guided pathway rather than a random or linear quiz list.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Key outputs (what the user actually gets):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provides practical, decision-making outputs rather than just a score:</a:t>
            </a:r>
          </a:p>
          <a:p>
            <a:pPr marL="457200" marR="0" lvl="1"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topic mastery heatmap</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showing strengths, weaknesses, and progress trends,</a:t>
            </a:r>
          </a:p>
          <a:p>
            <a:pPr marL="457200" marR="0" lvl="1"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next-best question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chosen to maximize learning gain and maintain the right challenge level,</a:t>
            </a:r>
          </a:p>
          <a:p>
            <a:pPr marL="457200" marR="0" lvl="1" indent="0" algn="l" defTabSz="914400" rtl="0" eaLnBrk="0" fontAlgn="base" latinLnBrk="0" hangingPunct="0">
              <a:lnSpc>
                <a:spcPct val="100000"/>
              </a:lnSpc>
              <a:spcBef>
                <a:spcPct val="0"/>
              </a:spcBef>
              <a:spcAft>
                <a:spcPct val="0"/>
              </a:spcAft>
              <a:buClrTx/>
              <a:buSzTx/>
              <a:tabLst/>
            </a:pPr>
            <a:r>
              <a:rPr lang="en-US" altLang="en-US" sz="2800" dirty="0">
                <a:solidFill>
                  <a:schemeClr val="tx1"/>
                </a:solidFill>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 readiness score + forecast</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(predicted score range with confidence and trajectory), and</a:t>
            </a:r>
          </a:p>
          <a:p>
            <a:pPr marL="457200" marR="0" lvl="1" indent="0" algn="l" defTabSz="914400" rtl="0" eaLnBrk="0" fontAlgn="base" latinLnBrk="0" hangingPunct="0">
              <a:lnSpc>
                <a:spcPct val="100000"/>
              </a:lnSpc>
              <a:spcBef>
                <a:spcPct val="0"/>
              </a:spcBef>
              <a:spcAft>
                <a:spcPct val="0"/>
              </a:spcAft>
              <a:buClrTx/>
              <a:buSzTx/>
              <a:tabLst/>
            </a:pPr>
            <a:r>
              <a:rPr lang="en-US" altLang="en-US" sz="2800" dirty="0">
                <a:solidFill>
                  <a:schemeClr val="tx1"/>
                </a:solidFill>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study plan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converts weaknesses into daily practice targets and review schedules (spaced repetition/retention-aware).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Why ML (how it is driven by models, not rules):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adaptivity is powered by three components working together:</a:t>
            </a:r>
          </a:p>
          <a:p>
            <a:pPr marL="457200" marR="0" lvl="1" indent="0" algn="l" defTabSz="914400" rtl="0" eaLnBrk="0" fontAlgn="base" latinLnBrk="0" hangingPunct="0">
              <a:lnSpc>
                <a:spcPct val="100000"/>
              </a:lnSpc>
              <a:spcBef>
                <a:spcPct val="0"/>
              </a:spcBef>
              <a:spcAft>
                <a:spcPct val="0"/>
              </a:spcAft>
              <a:buClrTx/>
              <a:buSzTx/>
              <a:tabLst/>
            </a:pPr>
            <a:r>
              <a:rPr lang="en-US" altLang="en-US" sz="2800" dirty="0">
                <a:solidFill>
                  <a:schemeClr val="tx1"/>
                </a:solidFill>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learner model</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estimates mastery/ability over time (e.g., knowledge tracing using BKT/DKT),</a:t>
            </a:r>
          </a:p>
          <a:p>
            <a:pPr marL="457200" marR="0" lvl="1" indent="0" algn="l" defTabSz="914400" rtl="0" eaLnBrk="0" fontAlgn="base" latinLnBrk="0" hangingPunct="0">
              <a:lnSpc>
                <a:spcPct val="100000"/>
              </a:lnSpc>
              <a:spcBef>
                <a:spcPct val="0"/>
              </a:spcBef>
              <a:spcAft>
                <a:spcPct val="0"/>
              </a:spcAft>
              <a:buClrTx/>
              <a:buSzTx/>
              <a:tabLst/>
            </a:pPr>
            <a:r>
              <a:rPr lang="en-US" altLang="en-US" sz="2800" dirty="0">
                <a:solidFill>
                  <a:schemeClr val="tx1"/>
                </a:solidFill>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content model</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learns true question difficulty and quality from attempt data (e.g., IRT calibration), and</a:t>
            </a:r>
          </a:p>
          <a:p>
            <a:pPr marL="457200" marR="0" lvl="1"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policy</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recommends the next question by optimizing expected learning gain while enforcing constraints like syllabus coverage, diversity, and avoiding repeats.</a:t>
            </a:r>
            <a:b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Together, these enable real personalization that improves as more attempt logs are collected.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75"/>
        <p:cNvGrpSpPr/>
        <p:nvPr/>
      </p:nvGrpSpPr>
      <p:grpSpPr>
        <a:xfrm>
          <a:off x="0" y="0"/>
          <a:ext cx="0" cy="0"/>
          <a:chOff x="0" y="0"/>
          <a:chExt cx="0" cy="0"/>
        </a:xfrm>
      </p:grpSpPr>
      <p:sp>
        <p:nvSpPr>
          <p:cNvPr id="76" name="Google Shape;76;p4"/>
          <p:cNvSpPr/>
          <p:nvPr/>
        </p:nvSpPr>
        <p:spPr>
          <a:xfrm>
            <a:off x="0" y="7689171"/>
            <a:ext cx="18288000" cy="2600325"/>
          </a:xfrm>
          <a:custGeom>
            <a:avLst/>
            <a:gdLst/>
            <a:ahLst/>
            <a:cxnLst/>
            <a:rect l="l" t="t" r="r" b="b"/>
            <a:pathLst>
              <a:path w="18288000" h="2600325" extrusionOk="0">
                <a:moveTo>
                  <a:pt x="18287998" y="2600324"/>
                </a:moveTo>
                <a:lnTo>
                  <a:pt x="0" y="2600324"/>
                </a:lnTo>
                <a:lnTo>
                  <a:pt x="0" y="0"/>
                </a:lnTo>
                <a:lnTo>
                  <a:pt x="18287998" y="0"/>
                </a:lnTo>
                <a:lnTo>
                  <a:pt x="18287998" y="2600324"/>
                </a:lnTo>
                <a:close/>
              </a:path>
            </a:pathLst>
          </a:custGeom>
          <a:solidFill>
            <a:srgbClr val="99B83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 name="Google Shape;77;p4"/>
          <p:cNvSpPr txBox="1">
            <a:spLocks noGrp="1"/>
          </p:cNvSpPr>
          <p:nvPr>
            <p:ph type="title"/>
          </p:nvPr>
        </p:nvSpPr>
        <p:spPr>
          <a:xfrm>
            <a:off x="206005" y="410778"/>
            <a:ext cx="11560175" cy="44371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sz="2800" b="1" dirty="0">
                <a:latin typeface="Times New Roman" panose="02020603050405020304" pitchFamily="18" charset="0"/>
                <a:cs typeface="Times New Roman" panose="02020603050405020304" pitchFamily="18" charset="0"/>
              </a:rPr>
              <a:t>Adaptive Learning Flow (Inference‑time)</a:t>
            </a:r>
            <a:endParaRPr sz="6400" dirty="0">
              <a:latin typeface="Times New Roman" panose="02020603050405020304" pitchFamily="18" charset="0"/>
              <a:cs typeface="Times New Roman" panose="02020603050405020304" pitchFamily="18" charset="0"/>
              <a:sym typeface="Trebuchet MS"/>
            </a:endParaRPr>
          </a:p>
        </p:txBody>
      </p:sp>
      <p:grpSp>
        <p:nvGrpSpPr>
          <p:cNvPr id="2" name="Group 1">
            <a:extLst>
              <a:ext uri="{FF2B5EF4-FFF2-40B4-BE49-F238E27FC236}">
                <a16:creationId xmlns:a16="http://schemas.microsoft.com/office/drawing/2014/main" id="{39E0C049-FDF3-B970-2542-ACE693B4F565}"/>
              </a:ext>
            </a:extLst>
          </p:cNvPr>
          <p:cNvGrpSpPr/>
          <p:nvPr/>
        </p:nvGrpSpPr>
        <p:grpSpPr>
          <a:xfrm>
            <a:off x="322763" y="1653078"/>
            <a:ext cx="3785032" cy="5364495"/>
            <a:chOff x="731520" y="3840480"/>
            <a:chExt cx="3657600" cy="4069080"/>
          </a:xfrm>
        </p:grpSpPr>
        <p:sp>
          <p:nvSpPr>
            <p:cNvPr id="79" name="Rounded Rectangle 78"/>
            <p:cNvSpPr/>
            <p:nvPr/>
          </p:nvSpPr>
          <p:spPr>
            <a:xfrm>
              <a:off x="731520" y="3840480"/>
              <a:ext cx="2926080" cy="777240"/>
            </a:xfrm>
            <a:prstGeom prst="roundRect">
              <a:avLst/>
            </a:prstGeom>
            <a:solidFill>
              <a:srgbClr val="ECF8EC"/>
            </a:solidFill>
            <a:ln>
              <a:solidFill>
                <a:srgbClr val="5050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chemeClr val="tx1"/>
                  </a:solidFill>
                  <a:latin typeface="Times New Roman" panose="02020603050405020304" pitchFamily="18" charset="0"/>
                  <a:cs typeface="Times New Roman" panose="02020603050405020304" pitchFamily="18" charset="0"/>
                </a:rPr>
                <a:t>User answers a question</a:t>
              </a:r>
              <a:br>
                <a:rPr dirty="0">
                  <a:solidFill>
                    <a:schemeClr val="tx1"/>
                  </a:solidFill>
                  <a:latin typeface="Times New Roman" panose="02020603050405020304" pitchFamily="18" charset="0"/>
                  <a:cs typeface="Times New Roman" panose="02020603050405020304" pitchFamily="18" charset="0"/>
                </a:rPr>
              </a:br>
              <a:r>
                <a:rPr sz="1400" b="1" dirty="0">
                  <a:solidFill>
                    <a:schemeClr val="tx1"/>
                  </a:solidFill>
                  <a:latin typeface="Times New Roman" panose="02020603050405020304" pitchFamily="18" charset="0"/>
                  <a:cs typeface="Times New Roman" panose="02020603050405020304" pitchFamily="18" charset="0"/>
                </a:rPr>
                <a:t>(+ time, confidence, hints)</a:t>
              </a:r>
            </a:p>
          </p:txBody>
        </p:sp>
        <p:sp>
          <p:nvSpPr>
            <p:cNvPr id="80" name="Down Arrow 79"/>
            <p:cNvSpPr/>
            <p:nvPr/>
          </p:nvSpPr>
          <p:spPr>
            <a:xfrm>
              <a:off x="3931920" y="4023360"/>
              <a:ext cx="457200" cy="457200"/>
            </a:xfrm>
            <a:prstGeom prst="down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731520" y="4937760"/>
              <a:ext cx="2926080" cy="777240"/>
            </a:xfrm>
            <a:prstGeom prst="roundRect">
              <a:avLst/>
            </a:prstGeom>
            <a:solidFill>
              <a:srgbClr val="ECF8EC"/>
            </a:solidFill>
            <a:ln>
              <a:solidFill>
                <a:srgbClr val="5050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chemeClr val="tx1"/>
                  </a:solidFill>
                  <a:latin typeface="Times New Roman" panose="02020603050405020304" pitchFamily="18" charset="0"/>
                  <a:cs typeface="Times New Roman" panose="02020603050405020304" pitchFamily="18" charset="0"/>
                </a:rPr>
                <a:t>Model updates mastery state</a:t>
              </a:r>
              <a:br>
                <a:rPr dirty="0">
                  <a:solidFill>
                    <a:schemeClr val="tx1"/>
                  </a:solidFill>
                  <a:latin typeface="Times New Roman" panose="02020603050405020304" pitchFamily="18" charset="0"/>
                  <a:cs typeface="Times New Roman" panose="02020603050405020304" pitchFamily="18" charset="0"/>
                </a:rPr>
              </a:br>
              <a:r>
                <a:rPr sz="1400" b="1" dirty="0">
                  <a:solidFill>
                    <a:schemeClr val="tx1"/>
                  </a:solidFill>
                  <a:latin typeface="Times New Roman" panose="02020603050405020304" pitchFamily="18" charset="0"/>
                  <a:cs typeface="Times New Roman" panose="02020603050405020304" pitchFamily="18" charset="0"/>
                </a:rPr>
                <a:t>(KT: DKT/BKT)</a:t>
              </a:r>
            </a:p>
          </p:txBody>
        </p:sp>
        <p:sp>
          <p:nvSpPr>
            <p:cNvPr id="82" name="Down Arrow 81"/>
            <p:cNvSpPr/>
            <p:nvPr/>
          </p:nvSpPr>
          <p:spPr>
            <a:xfrm>
              <a:off x="3931920" y="5120640"/>
              <a:ext cx="457200" cy="457200"/>
            </a:xfrm>
            <a:prstGeom prst="down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ounded Rectangle 82"/>
            <p:cNvSpPr/>
            <p:nvPr/>
          </p:nvSpPr>
          <p:spPr>
            <a:xfrm>
              <a:off x="731520" y="6035040"/>
              <a:ext cx="2926080" cy="777240"/>
            </a:xfrm>
            <a:prstGeom prst="roundRect">
              <a:avLst/>
            </a:prstGeom>
            <a:solidFill>
              <a:srgbClr val="ECF8EC"/>
            </a:solidFill>
            <a:ln>
              <a:solidFill>
                <a:srgbClr val="5050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chemeClr val="tx1"/>
                  </a:solidFill>
                  <a:latin typeface="Times New Roman" panose="02020603050405020304" pitchFamily="18" charset="0"/>
                  <a:cs typeface="Times New Roman" panose="02020603050405020304" pitchFamily="18" charset="0"/>
                </a:rPr>
                <a:t>Recommender picks next question</a:t>
              </a:r>
              <a:br>
                <a:rPr dirty="0">
                  <a:solidFill>
                    <a:schemeClr val="tx1"/>
                  </a:solidFill>
                  <a:latin typeface="Times New Roman" panose="02020603050405020304" pitchFamily="18" charset="0"/>
                  <a:cs typeface="Times New Roman" panose="02020603050405020304" pitchFamily="18" charset="0"/>
                </a:rPr>
              </a:br>
              <a:r>
                <a:rPr sz="1400" b="1" dirty="0">
                  <a:solidFill>
                    <a:schemeClr val="tx1"/>
                  </a:solidFill>
                  <a:latin typeface="Times New Roman" panose="02020603050405020304" pitchFamily="18" charset="0"/>
                  <a:cs typeface="Times New Roman" panose="02020603050405020304" pitchFamily="18" charset="0"/>
                </a:rPr>
                <a:t>(difficulty + topic targeting)</a:t>
              </a:r>
            </a:p>
          </p:txBody>
        </p:sp>
        <p:sp>
          <p:nvSpPr>
            <p:cNvPr id="84" name="Down Arrow 83"/>
            <p:cNvSpPr/>
            <p:nvPr/>
          </p:nvSpPr>
          <p:spPr>
            <a:xfrm>
              <a:off x="3931920" y="6217920"/>
              <a:ext cx="457200" cy="457200"/>
            </a:xfrm>
            <a:prstGeom prst="down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ounded Rectangle 84"/>
            <p:cNvSpPr/>
            <p:nvPr/>
          </p:nvSpPr>
          <p:spPr>
            <a:xfrm>
              <a:off x="731520" y="7132320"/>
              <a:ext cx="2926080" cy="777240"/>
            </a:xfrm>
            <a:prstGeom prst="roundRect">
              <a:avLst/>
            </a:prstGeom>
            <a:solidFill>
              <a:srgbClr val="ECF8EC"/>
            </a:solidFill>
            <a:ln>
              <a:solidFill>
                <a:srgbClr val="5050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chemeClr val="tx1"/>
                  </a:solidFill>
                  <a:latin typeface="Times New Roman" panose="02020603050405020304" pitchFamily="18" charset="0"/>
                  <a:cs typeface="Times New Roman" panose="02020603050405020304" pitchFamily="18" charset="0"/>
                </a:rPr>
                <a:t>Feedback: explanation + analytics</a:t>
              </a:r>
              <a:br>
                <a:rPr dirty="0">
                  <a:solidFill>
                    <a:schemeClr val="tx1"/>
                  </a:solidFill>
                  <a:latin typeface="Times New Roman" panose="02020603050405020304" pitchFamily="18" charset="0"/>
                  <a:cs typeface="Times New Roman" panose="02020603050405020304" pitchFamily="18" charset="0"/>
                </a:rPr>
              </a:br>
              <a:r>
                <a:rPr sz="1400" b="1" dirty="0">
                  <a:solidFill>
                    <a:schemeClr val="tx1"/>
                  </a:solidFill>
                  <a:latin typeface="Times New Roman" panose="02020603050405020304" pitchFamily="18" charset="0"/>
                  <a:cs typeface="Times New Roman" panose="02020603050405020304" pitchFamily="18" charset="0"/>
                </a:rPr>
                <a:t>(readiness score &amp; study plan)</a:t>
              </a:r>
            </a:p>
          </p:txBody>
        </p:sp>
      </p:grpSp>
      <p:sp>
        <p:nvSpPr>
          <p:cNvPr id="3" name="Rectangle 1">
            <a:extLst>
              <a:ext uri="{FF2B5EF4-FFF2-40B4-BE49-F238E27FC236}">
                <a16:creationId xmlns:a16="http://schemas.microsoft.com/office/drawing/2014/main" id="{CC2B1D02-E676-6FDB-669D-37397369A4AC}"/>
              </a:ext>
            </a:extLst>
          </p:cNvPr>
          <p:cNvSpPr>
            <a:spLocks noChangeArrowheads="1"/>
          </p:cNvSpPr>
          <p:nvPr/>
        </p:nvSpPr>
        <p:spPr bwMode="auto">
          <a:xfrm>
            <a:off x="4430557" y="981479"/>
            <a:ext cx="13244474" cy="8894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Instead of a static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NEXT/PREV</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question order, the app runs an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adaptive inference loop</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after every attempt to personalize what comes next.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Capture rich attempt signals:</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When the user answers, we log correctness plus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time-to-answer</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hints used</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retry count</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and optional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confidence</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These signals help distinguish “lucky guesses” from true understanding and detect topics where the learner is struggling.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Update mastery immediately (Knowledge Tracing):</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The system updates the learner’s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topic/skill mastery state</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using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BKT/DKT</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after each question. This produces an updated mastery probability (and uncertainty) per topic, which becomes the learner’s current knowledge profile.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Select the next-best question (Decision policy):</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Using the updated mastery and calibrated difficulty (IRT), the recommender chooses the next question to maximize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expected learning gain</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while keeping difficulty in a productive range (not too easy, not too hard). It also enforces constraints like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topic coverage</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diversity</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and avoiding repeated/near-duplicate items.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Provide instant feedback + grounded explanations:</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The app returns immediate feedback and retrieves the most relevant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explanations/solutions</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(and similar examples) based on the skill tag and the learner’s error pattern, so the user learns from mistakes in-context.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Predict readiness trajectory + adjust the plan:</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The system estimates </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exam readiness</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(score range with confidence) and updates the study plan dynamically, allocating more practice to weak topics, scheduling review for retention, and adapting the daily target based on recent performance trends.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Result:</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each practice session becomes a personalized coaching loop—</a:t>
            </a: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attempt → mastery update → next question → feedback → updated plan</a:t>
            </a:r>
            <a:r>
              <a:rPr lang="en-US" altLang="en-US" sz="2200" dirty="0">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improving learning efficiency compared to fixed navigation.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63"/>
        <p:cNvGrpSpPr/>
        <p:nvPr/>
      </p:nvGrpSpPr>
      <p:grpSpPr>
        <a:xfrm>
          <a:off x="0" y="0"/>
          <a:ext cx="0" cy="0"/>
          <a:chOff x="0" y="0"/>
          <a:chExt cx="0" cy="0"/>
        </a:xfrm>
      </p:grpSpPr>
      <p:sp>
        <p:nvSpPr>
          <p:cNvPr id="64" name="Google Shape;64;p3"/>
          <p:cNvSpPr/>
          <p:nvPr/>
        </p:nvSpPr>
        <p:spPr>
          <a:xfrm>
            <a:off x="0" y="8471000"/>
            <a:ext cx="18288000" cy="1816100"/>
          </a:xfrm>
          <a:custGeom>
            <a:avLst/>
            <a:gdLst/>
            <a:ahLst/>
            <a:cxnLst/>
            <a:rect l="l" t="t" r="r" b="b"/>
            <a:pathLst>
              <a:path w="18288000" h="1816100" extrusionOk="0">
                <a:moveTo>
                  <a:pt x="0" y="0"/>
                </a:moveTo>
                <a:lnTo>
                  <a:pt x="18287999" y="0"/>
                </a:lnTo>
                <a:lnTo>
                  <a:pt x="18287999" y="1815999"/>
                </a:lnTo>
                <a:lnTo>
                  <a:pt x="0" y="1815999"/>
                </a:lnTo>
                <a:lnTo>
                  <a:pt x="0" y="0"/>
                </a:lnTo>
                <a:close/>
              </a:path>
            </a:pathLst>
          </a:custGeom>
          <a:solidFill>
            <a:srgbClr val="D0A2E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65" name="Google Shape;65;p3"/>
          <p:cNvGrpSpPr/>
          <p:nvPr/>
        </p:nvGrpSpPr>
        <p:grpSpPr>
          <a:xfrm>
            <a:off x="14853105" y="276119"/>
            <a:ext cx="2766635" cy="3082821"/>
            <a:chOff x="14853105" y="276119"/>
            <a:chExt cx="2766635" cy="3082821"/>
          </a:xfrm>
        </p:grpSpPr>
        <p:sp>
          <p:nvSpPr>
            <p:cNvPr id="66" name="Google Shape;66;p3"/>
            <p:cNvSpPr/>
            <p:nvPr/>
          </p:nvSpPr>
          <p:spPr>
            <a:xfrm>
              <a:off x="14853105" y="276119"/>
              <a:ext cx="1847850" cy="1847850"/>
            </a:xfrm>
            <a:custGeom>
              <a:avLst/>
              <a:gdLst/>
              <a:ahLst/>
              <a:cxnLst/>
              <a:rect l="l" t="t" r="r" b="b"/>
              <a:pathLst>
                <a:path w="1847850" h="1847850" extrusionOk="0">
                  <a:moveTo>
                    <a:pt x="923924" y="1847849"/>
                  </a:moveTo>
                  <a:lnTo>
                    <a:pt x="833364" y="1843400"/>
                  </a:lnTo>
                  <a:lnTo>
                    <a:pt x="743676" y="1830096"/>
                  </a:lnTo>
                  <a:lnTo>
                    <a:pt x="655723" y="1808065"/>
                  </a:lnTo>
                  <a:lnTo>
                    <a:pt x="570354" y="1777520"/>
                  </a:lnTo>
                  <a:lnTo>
                    <a:pt x="488389" y="1738753"/>
                  </a:lnTo>
                  <a:lnTo>
                    <a:pt x="410619" y="1692140"/>
                  </a:lnTo>
                  <a:lnTo>
                    <a:pt x="337793" y="1638128"/>
                  </a:lnTo>
                  <a:lnTo>
                    <a:pt x="270611" y="1577238"/>
                  </a:lnTo>
                  <a:lnTo>
                    <a:pt x="209721" y="1510056"/>
                  </a:lnTo>
                  <a:lnTo>
                    <a:pt x="155709" y="1437229"/>
                  </a:lnTo>
                  <a:lnTo>
                    <a:pt x="109095" y="1359460"/>
                  </a:lnTo>
                  <a:lnTo>
                    <a:pt x="70329" y="1277495"/>
                  </a:lnTo>
                  <a:lnTo>
                    <a:pt x="39783" y="1192126"/>
                  </a:lnTo>
                  <a:lnTo>
                    <a:pt x="17752" y="1104173"/>
                  </a:lnTo>
                  <a:lnTo>
                    <a:pt x="4448" y="1014485"/>
                  </a:lnTo>
                  <a:lnTo>
                    <a:pt x="0" y="923924"/>
                  </a:lnTo>
                  <a:lnTo>
                    <a:pt x="4448" y="833364"/>
                  </a:lnTo>
                  <a:lnTo>
                    <a:pt x="17752" y="743676"/>
                  </a:lnTo>
                  <a:lnTo>
                    <a:pt x="39783" y="655723"/>
                  </a:lnTo>
                  <a:lnTo>
                    <a:pt x="70329" y="570354"/>
                  </a:lnTo>
                  <a:lnTo>
                    <a:pt x="109095" y="488389"/>
                  </a:lnTo>
                  <a:lnTo>
                    <a:pt x="155709" y="410619"/>
                  </a:lnTo>
                  <a:lnTo>
                    <a:pt x="209721" y="337793"/>
                  </a:lnTo>
                  <a:lnTo>
                    <a:pt x="270611" y="270611"/>
                  </a:lnTo>
                  <a:lnTo>
                    <a:pt x="337793" y="209721"/>
                  </a:lnTo>
                  <a:lnTo>
                    <a:pt x="410619" y="155709"/>
                  </a:lnTo>
                  <a:lnTo>
                    <a:pt x="488389" y="109095"/>
                  </a:lnTo>
                  <a:lnTo>
                    <a:pt x="570354" y="70329"/>
                  </a:lnTo>
                  <a:lnTo>
                    <a:pt x="655723" y="39783"/>
                  </a:lnTo>
                  <a:lnTo>
                    <a:pt x="743676" y="17752"/>
                  </a:lnTo>
                  <a:lnTo>
                    <a:pt x="833364" y="4448"/>
                  </a:lnTo>
                  <a:lnTo>
                    <a:pt x="923924" y="0"/>
                  </a:lnTo>
                  <a:lnTo>
                    <a:pt x="1014485" y="4448"/>
                  </a:lnTo>
                  <a:lnTo>
                    <a:pt x="1104173" y="17752"/>
                  </a:lnTo>
                  <a:lnTo>
                    <a:pt x="1192126" y="39783"/>
                  </a:lnTo>
                  <a:lnTo>
                    <a:pt x="1277495" y="70329"/>
                  </a:lnTo>
                  <a:lnTo>
                    <a:pt x="1359460" y="109095"/>
                  </a:lnTo>
                  <a:lnTo>
                    <a:pt x="1437229" y="155709"/>
                  </a:lnTo>
                  <a:lnTo>
                    <a:pt x="1510056" y="209721"/>
                  </a:lnTo>
                  <a:lnTo>
                    <a:pt x="1577238" y="270611"/>
                  </a:lnTo>
                  <a:lnTo>
                    <a:pt x="1638128" y="337793"/>
                  </a:lnTo>
                  <a:lnTo>
                    <a:pt x="1692140" y="410619"/>
                  </a:lnTo>
                  <a:lnTo>
                    <a:pt x="1738753" y="488389"/>
                  </a:lnTo>
                  <a:lnTo>
                    <a:pt x="1777520" y="570354"/>
                  </a:lnTo>
                  <a:lnTo>
                    <a:pt x="1808066" y="655723"/>
                  </a:lnTo>
                  <a:lnTo>
                    <a:pt x="1830096" y="743676"/>
                  </a:lnTo>
                  <a:lnTo>
                    <a:pt x="1843400" y="833364"/>
                  </a:lnTo>
                  <a:lnTo>
                    <a:pt x="1847849" y="923924"/>
                  </a:lnTo>
                  <a:lnTo>
                    <a:pt x="1843400" y="1014485"/>
                  </a:lnTo>
                  <a:lnTo>
                    <a:pt x="1830096" y="1104173"/>
                  </a:lnTo>
                  <a:lnTo>
                    <a:pt x="1808065" y="1192126"/>
                  </a:lnTo>
                  <a:lnTo>
                    <a:pt x="1777520" y="1277495"/>
                  </a:lnTo>
                  <a:lnTo>
                    <a:pt x="1738753" y="1359460"/>
                  </a:lnTo>
                  <a:lnTo>
                    <a:pt x="1692140" y="1437229"/>
                  </a:lnTo>
                  <a:lnTo>
                    <a:pt x="1638128" y="1510056"/>
                  </a:lnTo>
                  <a:lnTo>
                    <a:pt x="1577238" y="1577238"/>
                  </a:lnTo>
                  <a:lnTo>
                    <a:pt x="1510056" y="1638128"/>
                  </a:lnTo>
                  <a:lnTo>
                    <a:pt x="1437229" y="1692140"/>
                  </a:lnTo>
                  <a:lnTo>
                    <a:pt x="1359460" y="1738753"/>
                  </a:lnTo>
                  <a:lnTo>
                    <a:pt x="1277495" y="1777520"/>
                  </a:lnTo>
                  <a:lnTo>
                    <a:pt x="1192126" y="1808066"/>
                  </a:lnTo>
                  <a:lnTo>
                    <a:pt x="1104173" y="1830096"/>
                  </a:lnTo>
                  <a:lnTo>
                    <a:pt x="1014485" y="1843400"/>
                  </a:lnTo>
                  <a:lnTo>
                    <a:pt x="923924" y="1847849"/>
                  </a:lnTo>
                  <a:close/>
                </a:path>
              </a:pathLst>
            </a:custGeom>
            <a:solidFill>
              <a:srgbClr val="FDCB5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 name="Google Shape;67;p3"/>
            <p:cNvSpPr/>
            <p:nvPr/>
          </p:nvSpPr>
          <p:spPr>
            <a:xfrm>
              <a:off x="15811047" y="2137835"/>
              <a:ext cx="1621790" cy="1221105"/>
            </a:xfrm>
            <a:custGeom>
              <a:avLst/>
              <a:gdLst/>
              <a:ahLst/>
              <a:cxnLst/>
              <a:rect l="l" t="t" r="r" b="b"/>
              <a:pathLst>
                <a:path w="1621790" h="1221104" extrusionOk="0">
                  <a:moveTo>
                    <a:pt x="1548408" y="1220646"/>
                  </a:moveTo>
                  <a:lnTo>
                    <a:pt x="75271" y="1220646"/>
                  </a:lnTo>
                  <a:lnTo>
                    <a:pt x="31045" y="1212153"/>
                  </a:lnTo>
                  <a:lnTo>
                    <a:pt x="5321" y="1189032"/>
                  </a:lnTo>
                  <a:lnTo>
                    <a:pt x="0" y="1154820"/>
                  </a:lnTo>
                  <a:lnTo>
                    <a:pt x="16986" y="1113053"/>
                  </a:lnTo>
                  <a:lnTo>
                    <a:pt x="710001" y="45079"/>
                  </a:lnTo>
                  <a:lnTo>
                    <a:pt x="742889" y="11613"/>
                  </a:lnTo>
                  <a:lnTo>
                    <a:pt x="780863" y="0"/>
                  </a:lnTo>
                  <a:lnTo>
                    <a:pt x="819210" y="10316"/>
                  </a:lnTo>
                  <a:lnTo>
                    <a:pt x="853215" y="42641"/>
                  </a:lnTo>
                  <a:lnTo>
                    <a:pt x="1603106" y="1115491"/>
                  </a:lnTo>
                  <a:lnTo>
                    <a:pt x="1621463" y="1156336"/>
                  </a:lnTo>
                  <a:lnTo>
                    <a:pt x="1617285" y="1189770"/>
                  </a:lnTo>
                  <a:lnTo>
                    <a:pt x="1592343" y="1212354"/>
                  </a:lnTo>
                  <a:lnTo>
                    <a:pt x="1548408" y="1220646"/>
                  </a:lnTo>
                  <a:close/>
                </a:path>
              </a:pathLst>
            </a:custGeom>
            <a:solidFill>
              <a:srgbClr val="E7596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 name="Google Shape;68;p3"/>
            <p:cNvSpPr/>
            <p:nvPr/>
          </p:nvSpPr>
          <p:spPr>
            <a:xfrm>
              <a:off x="16895840" y="1393313"/>
              <a:ext cx="723900" cy="723900"/>
            </a:xfrm>
            <a:custGeom>
              <a:avLst/>
              <a:gdLst/>
              <a:ahLst/>
              <a:cxnLst/>
              <a:rect l="l" t="t" r="r" b="b"/>
              <a:pathLst>
                <a:path w="723900" h="723900" extrusionOk="0">
                  <a:moveTo>
                    <a:pt x="361949" y="723899"/>
                  </a:moveTo>
                  <a:lnTo>
                    <a:pt x="308840" y="719982"/>
                  </a:lnTo>
                  <a:lnTo>
                    <a:pt x="256881" y="708314"/>
                  </a:lnTo>
                  <a:lnTo>
                    <a:pt x="207196" y="689149"/>
                  </a:lnTo>
                  <a:lnTo>
                    <a:pt x="160861" y="662900"/>
                  </a:lnTo>
                  <a:lnTo>
                    <a:pt x="118879" y="630137"/>
                  </a:lnTo>
                  <a:lnTo>
                    <a:pt x="82158" y="591568"/>
                  </a:lnTo>
                  <a:lnTo>
                    <a:pt x="51494" y="548029"/>
                  </a:lnTo>
                  <a:lnTo>
                    <a:pt x="27551" y="500462"/>
                  </a:lnTo>
                  <a:lnTo>
                    <a:pt x="10846" y="449896"/>
                  </a:lnTo>
                  <a:lnTo>
                    <a:pt x="1742" y="397427"/>
                  </a:lnTo>
                  <a:lnTo>
                    <a:pt x="0" y="361949"/>
                  </a:lnTo>
                  <a:lnTo>
                    <a:pt x="435" y="344189"/>
                  </a:lnTo>
                  <a:lnTo>
                    <a:pt x="6954" y="291337"/>
                  </a:lnTo>
                  <a:lnTo>
                    <a:pt x="21157" y="240012"/>
                  </a:lnTo>
                  <a:lnTo>
                    <a:pt x="42738" y="191327"/>
                  </a:lnTo>
                  <a:lnTo>
                    <a:pt x="71228" y="146336"/>
                  </a:lnTo>
                  <a:lnTo>
                    <a:pt x="106012" y="106012"/>
                  </a:lnTo>
                  <a:lnTo>
                    <a:pt x="146336" y="71228"/>
                  </a:lnTo>
                  <a:lnTo>
                    <a:pt x="191327" y="42738"/>
                  </a:lnTo>
                  <a:lnTo>
                    <a:pt x="240012" y="21157"/>
                  </a:lnTo>
                  <a:lnTo>
                    <a:pt x="291337" y="6954"/>
                  </a:lnTo>
                  <a:lnTo>
                    <a:pt x="344189" y="435"/>
                  </a:lnTo>
                  <a:lnTo>
                    <a:pt x="361949" y="0"/>
                  </a:lnTo>
                  <a:lnTo>
                    <a:pt x="379710" y="435"/>
                  </a:lnTo>
                  <a:lnTo>
                    <a:pt x="432562" y="6954"/>
                  </a:lnTo>
                  <a:lnTo>
                    <a:pt x="483887" y="21157"/>
                  </a:lnTo>
                  <a:lnTo>
                    <a:pt x="532571" y="42738"/>
                  </a:lnTo>
                  <a:lnTo>
                    <a:pt x="577563" y="71228"/>
                  </a:lnTo>
                  <a:lnTo>
                    <a:pt x="617887" y="106012"/>
                  </a:lnTo>
                  <a:lnTo>
                    <a:pt x="652671" y="146336"/>
                  </a:lnTo>
                  <a:lnTo>
                    <a:pt x="681161" y="191327"/>
                  </a:lnTo>
                  <a:lnTo>
                    <a:pt x="702742" y="240012"/>
                  </a:lnTo>
                  <a:lnTo>
                    <a:pt x="716945" y="291337"/>
                  </a:lnTo>
                  <a:lnTo>
                    <a:pt x="723464" y="344189"/>
                  </a:lnTo>
                  <a:lnTo>
                    <a:pt x="723899" y="361949"/>
                  </a:lnTo>
                  <a:lnTo>
                    <a:pt x="723464" y="379710"/>
                  </a:lnTo>
                  <a:lnTo>
                    <a:pt x="716945" y="432562"/>
                  </a:lnTo>
                  <a:lnTo>
                    <a:pt x="702741" y="483887"/>
                  </a:lnTo>
                  <a:lnTo>
                    <a:pt x="681161" y="532571"/>
                  </a:lnTo>
                  <a:lnTo>
                    <a:pt x="652671" y="577563"/>
                  </a:lnTo>
                  <a:lnTo>
                    <a:pt x="617887" y="617887"/>
                  </a:lnTo>
                  <a:lnTo>
                    <a:pt x="577563" y="652671"/>
                  </a:lnTo>
                  <a:lnTo>
                    <a:pt x="532571" y="681161"/>
                  </a:lnTo>
                  <a:lnTo>
                    <a:pt x="483887" y="702742"/>
                  </a:lnTo>
                  <a:lnTo>
                    <a:pt x="432562" y="716945"/>
                  </a:lnTo>
                  <a:lnTo>
                    <a:pt x="379710" y="723464"/>
                  </a:lnTo>
                  <a:lnTo>
                    <a:pt x="361949" y="723899"/>
                  </a:lnTo>
                  <a:close/>
                </a:path>
              </a:pathLst>
            </a:custGeom>
            <a:solidFill>
              <a:srgbClr val="54ABE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69" name="Google Shape;69;p3"/>
          <p:cNvSpPr txBox="1">
            <a:spLocks noGrp="1"/>
          </p:cNvSpPr>
          <p:nvPr>
            <p:ph type="title"/>
          </p:nvPr>
        </p:nvSpPr>
        <p:spPr>
          <a:xfrm>
            <a:off x="511727" y="289628"/>
            <a:ext cx="8914130" cy="474489"/>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sz="3000" b="1" dirty="0">
                <a:latin typeface="Times New Roman" panose="02020603050405020304" pitchFamily="18" charset="0"/>
                <a:cs typeface="Times New Roman" panose="02020603050405020304" pitchFamily="18" charset="0"/>
              </a:rPr>
              <a:t>ML Architecture &amp; Pipeline</a:t>
            </a:r>
            <a:endParaRPr sz="4600" dirty="0">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id="{0CAC10C6-4283-ED06-BC57-5CDD7D183967}"/>
              </a:ext>
            </a:extLst>
          </p:cNvPr>
          <p:cNvGrpSpPr/>
          <p:nvPr/>
        </p:nvGrpSpPr>
        <p:grpSpPr>
          <a:xfrm>
            <a:off x="249306" y="9237531"/>
            <a:ext cx="12610660" cy="822960"/>
            <a:chOff x="548640" y="4754880"/>
            <a:chExt cx="9829800" cy="822960"/>
          </a:xfrm>
        </p:grpSpPr>
        <p:sp>
          <p:nvSpPr>
            <p:cNvPr id="71" name="Rounded Rectangle 70"/>
            <p:cNvSpPr/>
            <p:nvPr/>
          </p:nvSpPr>
          <p:spPr>
            <a:xfrm>
              <a:off x="548640" y="4754880"/>
              <a:ext cx="1234440" cy="822960"/>
            </a:xfrm>
            <a:prstGeom prst="roundRect">
              <a:avLst/>
            </a:prstGeom>
            <a:solidFill>
              <a:srgbClr val="E6F3FF"/>
            </a:solidFill>
            <a:ln>
              <a:solidFill>
                <a:srgbClr val="5050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chemeClr val="tx1"/>
                  </a:solidFill>
                  <a:latin typeface="Calibri"/>
                </a:rPr>
                <a:t>Logs &amp;</a:t>
              </a:r>
              <a:br>
                <a:rPr dirty="0">
                  <a:solidFill>
                    <a:schemeClr val="tx1"/>
                  </a:solidFill>
                </a:rPr>
              </a:br>
              <a:r>
                <a:rPr sz="1400" b="1" dirty="0">
                  <a:solidFill>
                    <a:schemeClr val="tx1"/>
                  </a:solidFill>
                  <a:latin typeface="Calibri"/>
                </a:rPr>
                <a:t>Signals</a:t>
              </a:r>
            </a:p>
          </p:txBody>
        </p:sp>
        <p:sp>
          <p:nvSpPr>
            <p:cNvPr id="72" name="Right Arrow 71"/>
            <p:cNvSpPr/>
            <p:nvPr/>
          </p:nvSpPr>
          <p:spPr>
            <a:xfrm>
              <a:off x="1783080" y="5006340"/>
              <a:ext cx="320040" cy="320040"/>
            </a:xfrm>
            <a:prstGeom prst="right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p:cNvSpPr/>
            <p:nvPr/>
          </p:nvSpPr>
          <p:spPr>
            <a:xfrm>
              <a:off x="2267712" y="4754880"/>
              <a:ext cx="1234440" cy="822960"/>
            </a:xfrm>
            <a:prstGeom prst="roundRect">
              <a:avLst/>
            </a:prstGeom>
            <a:solidFill>
              <a:srgbClr val="E6F3FF"/>
            </a:solidFill>
            <a:ln>
              <a:solidFill>
                <a:srgbClr val="5050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chemeClr val="tx1"/>
                  </a:solidFill>
                  <a:latin typeface="Calibri"/>
                </a:rPr>
                <a:t>Feature</a:t>
              </a:r>
              <a:br>
                <a:rPr dirty="0">
                  <a:solidFill>
                    <a:schemeClr val="tx1"/>
                  </a:solidFill>
                </a:rPr>
              </a:br>
              <a:r>
                <a:rPr sz="1400" b="1" dirty="0">
                  <a:solidFill>
                    <a:schemeClr val="tx1"/>
                  </a:solidFill>
                  <a:latin typeface="Calibri"/>
                </a:rPr>
                <a:t>Store</a:t>
              </a:r>
            </a:p>
          </p:txBody>
        </p:sp>
        <p:sp>
          <p:nvSpPr>
            <p:cNvPr id="74" name="Right Arrow 73"/>
            <p:cNvSpPr/>
            <p:nvPr/>
          </p:nvSpPr>
          <p:spPr>
            <a:xfrm>
              <a:off x="3502152" y="5006340"/>
              <a:ext cx="320040" cy="320040"/>
            </a:xfrm>
            <a:prstGeom prst="right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p:cNvSpPr/>
            <p:nvPr/>
          </p:nvSpPr>
          <p:spPr>
            <a:xfrm>
              <a:off x="3986784" y="4754880"/>
              <a:ext cx="1234440" cy="822960"/>
            </a:xfrm>
            <a:prstGeom prst="roundRect">
              <a:avLst/>
            </a:prstGeom>
            <a:solidFill>
              <a:srgbClr val="E6F3FF"/>
            </a:solidFill>
            <a:ln>
              <a:solidFill>
                <a:srgbClr val="5050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chemeClr val="tx1"/>
                  </a:solidFill>
                  <a:latin typeface="Calibri"/>
                </a:rPr>
                <a:t>Model</a:t>
              </a:r>
              <a:br>
                <a:rPr dirty="0">
                  <a:solidFill>
                    <a:schemeClr val="tx1"/>
                  </a:solidFill>
                </a:rPr>
              </a:br>
              <a:r>
                <a:rPr sz="1400" b="1" dirty="0">
                  <a:solidFill>
                    <a:schemeClr val="tx1"/>
                  </a:solidFill>
                  <a:latin typeface="Calibri"/>
                </a:rPr>
                <a:t>Training</a:t>
              </a:r>
            </a:p>
          </p:txBody>
        </p:sp>
        <p:sp>
          <p:nvSpPr>
            <p:cNvPr id="76" name="Right Arrow 75"/>
            <p:cNvSpPr/>
            <p:nvPr/>
          </p:nvSpPr>
          <p:spPr>
            <a:xfrm>
              <a:off x="5221224" y="5006340"/>
              <a:ext cx="320040" cy="320040"/>
            </a:xfrm>
            <a:prstGeom prst="right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76"/>
            <p:cNvSpPr/>
            <p:nvPr/>
          </p:nvSpPr>
          <p:spPr>
            <a:xfrm>
              <a:off x="5705856" y="4754880"/>
              <a:ext cx="1234440" cy="822960"/>
            </a:xfrm>
            <a:prstGeom prst="roundRect">
              <a:avLst/>
            </a:prstGeom>
            <a:solidFill>
              <a:srgbClr val="E6F3FF"/>
            </a:solidFill>
            <a:ln>
              <a:solidFill>
                <a:srgbClr val="5050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chemeClr val="tx1"/>
                  </a:solidFill>
                  <a:latin typeface="Calibri"/>
                </a:rPr>
                <a:t>Model</a:t>
              </a:r>
              <a:br>
                <a:rPr dirty="0">
                  <a:solidFill>
                    <a:schemeClr val="tx1"/>
                  </a:solidFill>
                </a:rPr>
              </a:br>
              <a:r>
                <a:rPr sz="1400" b="1" dirty="0">
                  <a:solidFill>
                    <a:schemeClr val="tx1"/>
                  </a:solidFill>
                  <a:latin typeface="Calibri"/>
                </a:rPr>
                <a:t>Registry</a:t>
              </a:r>
            </a:p>
          </p:txBody>
        </p:sp>
        <p:sp>
          <p:nvSpPr>
            <p:cNvPr id="78" name="Right Arrow 77"/>
            <p:cNvSpPr/>
            <p:nvPr/>
          </p:nvSpPr>
          <p:spPr>
            <a:xfrm>
              <a:off x="6940296" y="5006340"/>
              <a:ext cx="320040" cy="320040"/>
            </a:xfrm>
            <a:prstGeom prst="right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78"/>
            <p:cNvSpPr/>
            <p:nvPr/>
          </p:nvSpPr>
          <p:spPr>
            <a:xfrm>
              <a:off x="7424928" y="4754880"/>
              <a:ext cx="1234440" cy="822960"/>
            </a:xfrm>
            <a:prstGeom prst="roundRect">
              <a:avLst/>
            </a:prstGeom>
            <a:solidFill>
              <a:srgbClr val="E6F3FF"/>
            </a:solidFill>
            <a:ln>
              <a:solidFill>
                <a:srgbClr val="5050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chemeClr val="tx1"/>
                  </a:solidFill>
                  <a:latin typeface="Calibri"/>
                </a:rPr>
                <a:t>Inference</a:t>
              </a:r>
              <a:br>
                <a:rPr dirty="0">
                  <a:solidFill>
                    <a:schemeClr val="tx1"/>
                  </a:solidFill>
                </a:rPr>
              </a:br>
              <a:r>
                <a:rPr sz="1400" b="1" dirty="0">
                  <a:solidFill>
                    <a:schemeClr val="tx1"/>
                  </a:solidFill>
                  <a:latin typeface="Calibri"/>
                </a:rPr>
                <a:t>Service</a:t>
              </a:r>
            </a:p>
          </p:txBody>
        </p:sp>
        <p:sp>
          <p:nvSpPr>
            <p:cNvPr id="80" name="Right Arrow 79"/>
            <p:cNvSpPr/>
            <p:nvPr/>
          </p:nvSpPr>
          <p:spPr>
            <a:xfrm>
              <a:off x="8659368" y="5006340"/>
              <a:ext cx="320040" cy="320040"/>
            </a:xfrm>
            <a:prstGeom prst="right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9144000" y="4754880"/>
              <a:ext cx="1234440" cy="822960"/>
            </a:xfrm>
            <a:prstGeom prst="roundRect">
              <a:avLst/>
            </a:prstGeom>
            <a:solidFill>
              <a:srgbClr val="E6F3FF"/>
            </a:solidFill>
            <a:ln>
              <a:solidFill>
                <a:srgbClr val="5050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chemeClr val="tx1"/>
                  </a:solidFill>
                  <a:latin typeface="Calibri"/>
                </a:rPr>
                <a:t>Android</a:t>
              </a:r>
              <a:br>
                <a:rPr dirty="0">
                  <a:solidFill>
                    <a:schemeClr val="tx1"/>
                  </a:solidFill>
                </a:rPr>
              </a:br>
              <a:r>
                <a:rPr sz="1400" b="1" dirty="0">
                  <a:solidFill>
                    <a:schemeClr val="tx1"/>
                  </a:solidFill>
                  <a:latin typeface="Calibri"/>
                </a:rPr>
                <a:t>App</a:t>
              </a:r>
            </a:p>
          </p:txBody>
        </p:sp>
      </p:grpSp>
      <p:sp>
        <p:nvSpPr>
          <p:cNvPr id="82" name="TextBox 81"/>
          <p:cNvSpPr txBox="1"/>
          <p:nvPr/>
        </p:nvSpPr>
        <p:spPr>
          <a:xfrm>
            <a:off x="308742" y="8683991"/>
            <a:ext cx="11430000" cy="365760"/>
          </a:xfrm>
          <a:prstGeom prst="rect">
            <a:avLst/>
          </a:prstGeom>
          <a:noFill/>
        </p:spPr>
        <p:txBody>
          <a:bodyPr wrap="square">
            <a:spAutoFit/>
          </a:bodyPr>
          <a:lstStyle/>
          <a:p>
            <a:pPr algn="l"/>
            <a:r>
              <a:rPr sz="1600" b="1" dirty="0">
                <a:latin typeface="Calibri"/>
              </a:rPr>
              <a:t>Offline training → Online inference (continuous improvement loop)</a:t>
            </a:r>
          </a:p>
        </p:txBody>
      </p:sp>
      <p:sp>
        <p:nvSpPr>
          <p:cNvPr id="4" name="Rectangle 2">
            <a:extLst>
              <a:ext uri="{FF2B5EF4-FFF2-40B4-BE49-F238E27FC236}">
                <a16:creationId xmlns:a16="http://schemas.microsoft.com/office/drawing/2014/main" id="{89F6F7BC-AB23-FAC5-DC06-98B0C5B2CD0F}"/>
              </a:ext>
            </a:extLst>
          </p:cNvPr>
          <p:cNvSpPr>
            <a:spLocks noChangeArrowheads="1"/>
          </p:cNvSpPr>
          <p:nvPr/>
        </p:nvSpPr>
        <p:spPr bwMode="auto">
          <a:xfrm>
            <a:off x="249306" y="740570"/>
            <a:ext cx="17008484" cy="747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 Question bank + metadata:</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The system maintains a structured repository of questions where each item is stored with metadata such as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topic/skill tags</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difficulty level</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question type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solution/explanation</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This metadata is essential for filtering questions (avoid repeats), ensuring syllabus coverage, and supporting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cold-start personalization</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before enough user data is collected.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Telemetry (logs &amp; signals):</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Every user interaction is logged as anonymized learning signals—</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correct/incorrect</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time-to-answer</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hints used</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retry count</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and optional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self-reported confidence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These signals capture not only accuracy, but also effort and uncertainty, which are crucial for estimating mastery and calibrating question difficulty.</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 Feature store: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Raw telemetry is converted into reusable ML features such as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user-topic mastery vectors</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rolling performance trends</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(recent accuracy, speed, streaks),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recency/forgetting features</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and optionally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user/topic embeddings</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 feature store enables fast lookups for real-time inference and consistent feature definitions for training.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 Models (core intelligence):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The pipeline trains multiple models that work together: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difficulty estimator / IRT calibration</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model to learn true question difficulty from real attempts,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knowledge tracing model (BKT/DKT)</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to estimate a learner’s mastery per topic over time, 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recommender (next-best-question policy)</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to select questions that maximize learning gain while keeping difficulty appropriate and maintaining topic coverage.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Serving (low-latency inference):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Models are deployed behind an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inference API</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that returns the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next question</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updated mastery summary, and optional reason codes (why this question was chosen). The Android app keeps an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on-device </a:t>
            </a:r>
            <a:r>
              <a:rPr kumimoji="0" lang="en-US" altLang="en-US" sz="2000" b="1" i="0" u="none" strike="noStrike" cap="none" normalizeH="0" baseline="0" dirty="0" err="1">
                <a:ln>
                  <a:noFill/>
                </a:ln>
                <a:effectLst/>
                <a:latin typeface="Times New Roman" panose="02020603050405020304" pitchFamily="18" charset="0"/>
                <a:cs typeface="Times New Roman" panose="02020603050405020304" pitchFamily="18" charset="0"/>
              </a:rPr>
              <a:t>cache</a:t>
            </a: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of</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candidate questions and recent user state to reduce latency and support limited offline practice, syncing logs when connectivity is available.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 Continuous improvement loop (Offline training → Online inference):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User logs flow into the feature store and are used in offline retraining to improve difficulty calibration, mastery estimation, and recommendation quality. Updated models are pushed to the inference service so the system improves continuously as more learners interact with it.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Google Shape;64;p3">
            <a:extLst>
              <a:ext uri="{FF2B5EF4-FFF2-40B4-BE49-F238E27FC236}">
                <a16:creationId xmlns:a16="http://schemas.microsoft.com/office/drawing/2014/main" id="{7E6A738E-C7AC-53CF-4E81-E7FBB85717BD}"/>
              </a:ext>
            </a:extLst>
          </p:cNvPr>
          <p:cNvSpPr/>
          <p:nvPr/>
        </p:nvSpPr>
        <p:spPr>
          <a:xfrm>
            <a:off x="0" y="8470900"/>
            <a:ext cx="18288000" cy="1816100"/>
          </a:xfrm>
          <a:custGeom>
            <a:avLst/>
            <a:gdLst/>
            <a:ahLst/>
            <a:cxnLst/>
            <a:rect l="l" t="t" r="r" b="b"/>
            <a:pathLst>
              <a:path w="18288000" h="1816100" extrusionOk="0">
                <a:moveTo>
                  <a:pt x="0" y="0"/>
                </a:moveTo>
                <a:lnTo>
                  <a:pt x="18287999" y="0"/>
                </a:lnTo>
                <a:lnTo>
                  <a:pt x="18287999" y="1815999"/>
                </a:lnTo>
                <a:lnTo>
                  <a:pt x="0" y="1815999"/>
                </a:lnTo>
                <a:lnTo>
                  <a:pt x="0" y="0"/>
                </a:lnTo>
                <a:close/>
              </a:path>
            </a:pathLst>
          </a:custGeom>
          <a:solidFill>
            <a:srgbClr val="D0A2E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 name="TextBox 1"/>
          <p:cNvSpPr txBox="1"/>
          <p:nvPr/>
        </p:nvSpPr>
        <p:spPr>
          <a:xfrm>
            <a:off x="548640" y="523975"/>
            <a:ext cx="11704320" cy="707886"/>
          </a:xfrm>
          <a:prstGeom prst="rect">
            <a:avLst/>
          </a:prstGeom>
          <a:noFill/>
        </p:spPr>
        <p:txBody>
          <a:bodyPr wrap="square">
            <a:spAutoFit/>
          </a:bodyPr>
          <a:lstStyle/>
          <a:p>
            <a:pPr algn="l"/>
            <a:r>
              <a:rPr lang="en-US" sz="4000" b="1" dirty="0">
                <a:latin typeface="Times New Roman" panose="02020603050405020304" pitchFamily="18" charset="0"/>
                <a:cs typeface="Times New Roman" panose="02020603050405020304" pitchFamily="18" charset="0"/>
              </a:rPr>
              <a:t>Core ML Models</a:t>
            </a:r>
            <a:endParaRPr sz="4000" b="1" dirty="0">
              <a:latin typeface="Times New Roman" panose="02020603050405020304" pitchFamily="18" charset="0"/>
              <a:cs typeface="Times New Roman" panose="02020603050405020304" pitchFamily="18" charset="0"/>
            </a:endParaRPr>
          </a:p>
        </p:txBody>
      </p:sp>
      <p:sp>
        <p:nvSpPr>
          <p:cNvPr id="10" name="Rectangle 3">
            <a:extLst>
              <a:ext uri="{FF2B5EF4-FFF2-40B4-BE49-F238E27FC236}">
                <a16:creationId xmlns:a16="http://schemas.microsoft.com/office/drawing/2014/main" id="{AFDFD233-9A9D-FD55-E477-BCB514F908BE}"/>
              </a:ext>
            </a:extLst>
          </p:cNvPr>
          <p:cNvSpPr>
            <a:spLocks noChangeArrowheads="1"/>
          </p:cNvSpPr>
          <p:nvPr/>
        </p:nvSpPr>
        <p:spPr bwMode="auto">
          <a:xfrm>
            <a:off x="548640" y="1427253"/>
            <a:ext cx="7524843" cy="8725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300" b="1" i="0" u="none" strike="noStrike" cap="none" normalizeH="0" baseline="0" dirty="0">
                <a:ln>
                  <a:noFill/>
                </a:ln>
                <a:effectLst/>
                <a:latin typeface="Times New Roman" panose="02020603050405020304" pitchFamily="18" charset="0"/>
                <a:cs typeface="Times New Roman" panose="02020603050405020304" pitchFamily="18" charset="0"/>
              </a:rPr>
              <a:t> IRT difficulty calibration:</a:t>
            </a:r>
            <a:r>
              <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rPr>
              <a:t>learner ability </a:t>
            </a:r>
            <a:r>
              <a:rPr kumimoji="0" lang="en-US" altLang="en-US" sz="3300" b="0" i="0" u="none" strike="noStrike" cap="none" normalizeH="0" baseline="0" dirty="0" err="1">
                <a:ln>
                  <a:noFill/>
                </a:ln>
                <a:effectLst/>
                <a:latin typeface="Times New Roman" panose="02020603050405020304" pitchFamily="18" charset="0"/>
                <a:cs typeface="Times New Roman" panose="02020603050405020304" pitchFamily="18" charset="0"/>
              </a:rPr>
              <a:t>θ</a:t>
            </a:r>
            <a:r>
              <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rPr>
              <a:t> and item difficulty b → pick flow‑zone items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300" b="1" i="0" u="none" strike="noStrike" cap="none" normalizeH="0" baseline="0" dirty="0">
                <a:ln>
                  <a:noFill/>
                </a:ln>
                <a:effectLst/>
                <a:latin typeface="Times New Roman" panose="02020603050405020304" pitchFamily="18" charset="0"/>
                <a:cs typeface="Times New Roman" panose="02020603050405020304" pitchFamily="18" charset="0"/>
              </a:rPr>
              <a:t> Knowledge tracing (BKT/DKT):</a:t>
            </a:r>
            <a:r>
              <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rPr>
              <a:t>update mastery per topic after every attempt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300" b="1" i="0" u="none" strike="noStrike" cap="none" normalizeH="0" baseline="0" dirty="0">
                <a:ln>
                  <a:noFill/>
                </a:ln>
                <a:effectLst/>
                <a:latin typeface="Times New Roman" panose="02020603050405020304" pitchFamily="18" charset="0"/>
                <a:cs typeface="Times New Roman" panose="02020603050405020304" pitchFamily="18" charset="0"/>
              </a:rPr>
              <a:t> Recommendation policy:</a:t>
            </a:r>
            <a:r>
              <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rPr>
              <a:t>bandit/heuristics chooses next‑best question for learning gain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3300" b="1"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33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300" b="1" i="0" u="none" strike="noStrike" cap="none" normalizeH="0" baseline="0" dirty="0">
                <a:ln>
                  <a:noFill/>
                </a:ln>
                <a:effectLst/>
                <a:latin typeface="Times New Roman" panose="02020603050405020304" pitchFamily="18" charset="0"/>
                <a:cs typeface="Times New Roman" panose="02020603050405020304" pitchFamily="18" charset="0"/>
              </a:rPr>
              <a:t>Plot:</a:t>
            </a:r>
            <a:r>
              <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rPr>
              <a:t> Difficulty distribution histogram (shows calibrated item difficulty rather than manual guessing)</a:t>
            </a:r>
          </a:p>
        </p:txBody>
      </p:sp>
      <p:pic>
        <p:nvPicPr>
          <p:cNvPr id="12" name="Picture 11" descr="A graph of a number of blue bars&#10;&#10;AI-generated content may be incorrect.">
            <a:extLst>
              <a:ext uri="{FF2B5EF4-FFF2-40B4-BE49-F238E27FC236}">
                <a16:creationId xmlns:a16="http://schemas.microsoft.com/office/drawing/2014/main" id="{BE14BB15-12A7-0B2F-216C-1910785B8D79}"/>
              </a:ext>
            </a:extLst>
          </p:cNvPr>
          <p:cNvPicPr>
            <a:picLocks noChangeAspect="1"/>
          </p:cNvPicPr>
          <p:nvPr/>
        </p:nvPicPr>
        <p:blipFill>
          <a:blip r:embed="rId3"/>
          <a:stretch>
            <a:fillRect/>
          </a:stretch>
        </p:blipFill>
        <p:spPr>
          <a:xfrm>
            <a:off x="8452624" y="2006523"/>
            <a:ext cx="9049434" cy="591084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681" y="362128"/>
            <a:ext cx="11629447" cy="1538883"/>
          </a:xfrm>
        </p:spPr>
        <p:txBody>
          <a:bodyPr/>
          <a:lstStyle/>
          <a:p>
            <a:r>
              <a:rPr lang="en-US" dirty="0">
                <a:latin typeface="Times New Roman" panose="02020603050405020304" pitchFamily="18" charset="0"/>
                <a:cs typeface="Times New Roman" panose="02020603050405020304" pitchFamily="18" charset="0"/>
              </a:rPr>
              <a:t>User Experience and Analytics</a:t>
            </a:r>
            <a:br>
              <a:rPr lang="en-US" dirty="0">
                <a:latin typeface="Times New Roman" panose="02020603050405020304" pitchFamily="18" charset="0"/>
                <a:cs typeface="Times New Roman" panose="02020603050405020304" pitchFamily="18" charset="0"/>
              </a:rPr>
            </a:br>
            <a:endParaRPr dirty="0">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7AC3A3E3-2782-9505-11F1-0C3198C5DB72}"/>
              </a:ext>
            </a:extLst>
          </p:cNvPr>
          <p:cNvSpPr>
            <a:spLocks noChangeArrowheads="1"/>
          </p:cNvSpPr>
          <p:nvPr/>
        </p:nvSpPr>
        <p:spPr bwMode="auto">
          <a:xfrm rot="10800000" flipV="1">
            <a:off x="630681" y="1578436"/>
            <a:ext cx="9405417"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rPr>
              <a:t> Topic mastery heatmap: shows strengths/weaknesses clearly.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rPr>
              <a:t> Readiness score: predicted exam performance + confidence.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rPr>
              <a:t> Study plan: daily practice targets + spaced review for retention.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rPr>
              <a:t> Instant feedback: explanation retrieval + similar examples.</a:t>
            </a:r>
          </a:p>
        </p:txBody>
      </p:sp>
      <p:sp>
        <p:nvSpPr>
          <p:cNvPr id="11" name="TextBox 10">
            <a:extLst>
              <a:ext uri="{FF2B5EF4-FFF2-40B4-BE49-F238E27FC236}">
                <a16:creationId xmlns:a16="http://schemas.microsoft.com/office/drawing/2014/main" id="{943E67F9-43B3-BEEB-C6CA-CE8FB36BD63F}"/>
              </a:ext>
            </a:extLst>
          </p:cNvPr>
          <p:cNvSpPr txBox="1"/>
          <p:nvPr/>
        </p:nvSpPr>
        <p:spPr>
          <a:xfrm>
            <a:off x="11479543" y="2286406"/>
            <a:ext cx="4705814" cy="55399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effectLst/>
                <a:latin typeface="Times New Roman" panose="02020603050405020304" pitchFamily="18" charset="0"/>
                <a:cs typeface="Times New Roman" panose="02020603050405020304" pitchFamily="18" charset="0"/>
              </a:rPr>
              <a:t>Plot:</a:t>
            </a:r>
            <a:r>
              <a:rPr kumimoji="0" lang="en-US" altLang="en-US" sz="3000" b="0" i="0" u="none" strike="noStrike" cap="none" normalizeH="0" baseline="0" dirty="0">
                <a:ln>
                  <a:noFill/>
                </a:ln>
                <a:effectLst/>
                <a:latin typeface="Times New Roman" panose="02020603050405020304" pitchFamily="18" charset="0"/>
                <a:cs typeface="Times New Roman" panose="02020603050405020304" pitchFamily="18" charset="0"/>
              </a:rPr>
              <a:t> Topic mastery heatmap</a:t>
            </a:r>
          </a:p>
        </p:txBody>
      </p:sp>
      <p:pic>
        <p:nvPicPr>
          <p:cNvPr id="13" name="Picture 12" descr="A chart of a heatmap&#10;&#10;AI-generated content may be incorrect.">
            <a:extLst>
              <a:ext uri="{FF2B5EF4-FFF2-40B4-BE49-F238E27FC236}">
                <a16:creationId xmlns:a16="http://schemas.microsoft.com/office/drawing/2014/main" id="{2DEB3B4E-263C-1CA5-CF4A-C5F0F874CF70}"/>
              </a:ext>
            </a:extLst>
          </p:cNvPr>
          <p:cNvPicPr>
            <a:picLocks noChangeAspect="1"/>
          </p:cNvPicPr>
          <p:nvPr/>
        </p:nvPicPr>
        <p:blipFill>
          <a:blip r:embed="rId2"/>
          <a:stretch>
            <a:fillRect/>
          </a:stretch>
        </p:blipFill>
        <p:spPr>
          <a:xfrm>
            <a:off x="10342119" y="3225800"/>
            <a:ext cx="7315200" cy="3835400"/>
          </a:xfrm>
          <a:prstGeom prst="rect">
            <a:avLst/>
          </a:prstGeom>
        </p:spPr>
      </p:pic>
      <p:sp>
        <p:nvSpPr>
          <p:cNvPr id="14" name="Google Shape;76;p4">
            <a:extLst>
              <a:ext uri="{FF2B5EF4-FFF2-40B4-BE49-F238E27FC236}">
                <a16:creationId xmlns:a16="http://schemas.microsoft.com/office/drawing/2014/main" id="{2C17F6D7-6C69-668C-3C33-13FE6000260F}"/>
              </a:ext>
            </a:extLst>
          </p:cNvPr>
          <p:cNvSpPr/>
          <p:nvPr/>
        </p:nvSpPr>
        <p:spPr>
          <a:xfrm>
            <a:off x="0" y="7689171"/>
            <a:ext cx="18288000" cy="2600325"/>
          </a:xfrm>
          <a:custGeom>
            <a:avLst/>
            <a:gdLst/>
            <a:ahLst/>
            <a:cxnLst/>
            <a:rect l="l" t="t" r="r" b="b"/>
            <a:pathLst>
              <a:path w="18288000" h="2600325" extrusionOk="0">
                <a:moveTo>
                  <a:pt x="18287998" y="2600324"/>
                </a:moveTo>
                <a:lnTo>
                  <a:pt x="0" y="2600324"/>
                </a:lnTo>
                <a:lnTo>
                  <a:pt x="0" y="0"/>
                </a:lnTo>
                <a:lnTo>
                  <a:pt x="18287998" y="0"/>
                </a:lnTo>
                <a:lnTo>
                  <a:pt x="18287998" y="2600324"/>
                </a:lnTo>
                <a:close/>
              </a:path>
            </a:pathLst>
          </a:custGeom>
          <a:solidFill>
            <a:srgbClr val="99B83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85"/>
        <p:cNvGrpSpPr/>
        <p:nvPr/>
      </p:nvGrpSpPr>
      <p:grpSpPr>
        <a:xfrm>
          <a:off x="0" y="0"/>
          <a:ext cx="0" cy="0"/>
          <a:chOff x="0" y="0"/>
          <a:chExt cx="0" cy="0"/>
        </a:xfrm>
      </p:grpSpPr>
      <p:sp>
        <p:nvSpPr>
          <p:cNvPr id="86" name="Google Shape;86;p5"/>
          <p:cNvSpPr txBox="1">
            <a:spLocks noGrp="1"/>
          </p:cNvSpPr>
          <p:nvPr>
            <p:ph type="title"/>
          </p:nvPr>
        </p:nvSpPr>
        <p:spPr>
          <a:xfrm>
            <a:off x="475345" y="574322"/>
            <a:ext cx="8899525" cy="474489"/>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sz="3000" b="1" dirty="0">
                <a:latin typeface="Times New Roman" panose="02020603050405020304" pitchFamily="18" charset="0"/>
                <a:cs typeface="Times New Roman" panose="02020603050405020304" pitchFamily="18" charset="0"/>
              </a:rPr>
              <a:t>Benefits &amp; Impact</a:t>
            </a:r>
            <a:endParaRPr sz="6300" dirty="0">
              <a:latin typeface="Times New Roman" panose="02020603050405020304" pitchFamily="18" charset="0"/>
              <a:cs typeface="Times New Roman" panose="02020603050405020304" pitchFamily="18" charset="0"/>
            </a:endParaRPr>
          </a:p>
        </p:txBody>
      </p:sp>
      <p:sp>
        <p:nvSpPr>
          <p:cNvPr id="87" name="Google Shape;87;p5"/>
          <p:cNvSpPr txBox="1"/>
          <p:nvPr/>
        </p:nvSpPr>
        <p:spPr>
          <a:xfrm>
            <a:off x="115738" y="7398041"/>
            <a:ext cx="18056860" cy="474489"/>
          </a:xfrm>
          <a:prstGeom prst="rect">
            <a:avLst/>
          </a:prstGeom>
          <a:noFill/>
          <a:ln>
            <a:noFill/>
          </a:ln>
        </p:spPr>
        <p:txBody>
          <a:bodyPr spcFirstLastPara="1" wrap="square" lIns="0" tIns="12700" rIns="0" bIns="0" anchor="t" anchorCtr="0">
            <a:spAutoFit/>
          </a:bodyPr>
          <a:lstStyle/>
          <a:p>
            <a:pPr marL="12700" marR="5080" lvl="0" indent="-635" algn="ctr" rtl="0">
              <a:lnSpc>
                <a:spcPct val="100000"/>
              </a:lnSpc>
              <a:spcBef>
                <a:spcPts val="0"/>
              </a:spcBef>
              <a:spcAft>
                <a:spcPts val="0"/>
              </a:spcAft>
              <a:buNone/>
            </a:pPr>
            <a:endParaRPr sz="3000">
              <a:solidFill>
                <a:schemeClr val="dk1"/>
              </a:solidFill>
              <a:latin typeface="Trebuchet MS"/>
              <a:ea typeface="Trebuchet MS"/>
              <a:cs typeface="Trebuchet MS"/>
              <a:sym typeface="Trebuchet MS"/>
            </a:endParaRPr>
          </a:p>
        </p:txBody>
      </p:sp>
      <p:pic>
        <p:nvPicPr>
          <p:cNvPr id="89" name="Google Shape;89;p5" descr="E-Learning Quiz Benefits: 10 Reasons You Should Participate in Online  Quizzes"/>
          <p:cNvPicPr preferRelativeResize="0"/>
          <p:nvPr/>
        </p:nvPicPr>
        <p:blipFill rotWithShape="1">
          <a:blip r:embed="rId3">
            <a:alphaModFix/>
          </a:blip>
          <a:srcRect/>
          <a:stretch/>
        </p:blipFill>
        <p:spPr>
          <a:xfrm>
            <a:off x="13435158" y="6917177"/>
            <a:ext cx="4737104" cy="3162299"/>
          </a:xfrm>
          <a:prstGeom prst="rect">
            <a:avLst/>
          </a:prstGeom>
          <a:noFill/>
          <a:ln>
            <a:noFill/>
          </a:ln>
        </p:spPr>
      </p:pic>
      <p:sp>
        <p:nvSpPr>
          <p:cNvPr id="3" name="Rectangle 2">
            <a:extLst>
              <a:ext uri="{FF2B5EF4-FFF2-40B4-BE49-F238E27FC236}">
                <a16:creationId xmlns:a16="http://schemas.microsoft.com/office/drawing/2014/main" id="{AA6EF42B-1726-7F31-2954-01ADFBB0091E}"/>
              </a:ext>
            </a:extLst>
          </p:cNvPr>
          <p:cNvSpPr>
            <a:spLocks noChangeArrowheads="1"/>
          </p:cNvSpPr>
          <p:nvPr/>
        </p:nvSpPr>
        <p:spPr bwMode="auto">
          <a:xfrm>
            <a:off x="475345" y="1538556"/>
            <a:ext cx="14027284" cy="8094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457200" marR="0" lvl="0" indent="-45720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600" dirty="0">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t>Higher efficiency: fewer questions to reach mastery via adaptive selection</a:t>
            </a:r>
            <a:b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t> </a:t>
            </a:r>
          </a:p>
          <a:p>
            <a:pPr marL="457200" marR="0" lvl="0" indent="-45720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t>Personalized paths: every learner gets a different sequence based on strengths/weaknesses</a:t>
            </a:r>
            <a:b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457200" marR="0" lvl="0" indent="-45720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t> Better retention: spaced-repetition schedule learned from performance signals</a:t>
            </a:r>
            <a:b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457200" marR="0" lvl="0" indent="-45720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t> Transparent analytics: topic heatmaps, readiness score, and improvement forecast</a:t>
            </a:r>
            <a:b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457200" marR="0" lvl="0" indent="-45720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t> Fairness &amp; quality: detect ambiguous items, drift, and cheating patterns from logs</a:t>
            </a:r>
            <a:b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457200" marR="0" lvl="0" indent="-45720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t> Teacher/coach dashboard: identify class-wide gaps and content that needs re-teaching</a:t>
            </a:r>
            <a:b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457200" marR="0" lvl="0" indent="-45720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600" b="1" i="0" u="none" strike="noStrike" cap="none" normalizeH="0" baseline="0" dirty="0">
                <a:ln>
                  <a:noFill/>
                </a:ln>
                <a:effectLst/>
                <a:latin typeface="Times New Roman" panose="02020603050405020304" pitchFamily="18" charset="0"/>
                <a:cs typeface="Times New Roman" panose="02020603050405020304" pitchFamily="18" charset="0"/>
              </a:rPr>
              <a:t>Higher engagement:</a:t>
            </a:r>
            <a: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t> flow-state difficulty reduces frustration/boredom and improves session completion</a:t>
            </a:r>
            <a:b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457200" marR="0" lvl="0" indent="-45720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600" b="1" i="0" u="none" strike="noStrike" cap="none" normalizeH="0" baseline="0" dirty="0">
                <a:ln>
                  <a:noFill/>
                </a:ln>
                <a:effectLst/>
                <a:latin typeface="Times New Roman" panose="02020603050405020304" pitchFamily="18" charset="0"/>
                <a:cs typeface="Times New Roman" panose="02020603050405020304" pitchFamily="18" charset="0"/>
              </a:rPr>
              <a:t>Stronger explanations:</a:t>
            </a:r>
            <a: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t> targeted remediation (similar examples + concept notes) based on error patterns</a:t>
            </a:r>
            <a:b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457200" marR="0" lvl="0" indent="-45720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600" b="1" i="0" u="none" strike="noStrike" cap="none" normalizeH="0" baseline="0" dirty="0">
                <a:ln>
                  <a:noFill/>
                </a:ln>
                <a:effectLst/>
                <a:latin typeface="Times New Roman" panose="02020603050405020304" pitchFamily="18" charset="0"/>
                <a:cs typeface="Times New Roman" panose="02020603050405020304" pitchFamily="18" charset="0"/>
              </a:rPr>
              <a:t>Scalable content growth:</a:t>
            </a:r>
            <a:r>
              <a:rPr kumimoji="0" lang="en-US" altLang="en-US" sz="2600" b="0" i="0" u="none" strike="noStrike" cap="none" normalizeH="0" baseline="0" dirty="0">
                <a:ln>
                  <a:noFill/>
                </a:ln>
                <a:effectLst/>
                <a:latin typeface="Times New Roman" panose="02020603050405020304" pitchFamily="18" charset="0"/>
                <a:cs typeface="Times New Roman" panose="02020603050405020304" pitchFamily="18" charset="0"/>
              </a:rPr>
              <a:t> auto-tagging and difficulty calibration let new questions be added quickly with consistent quality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9958" y="344170"/>
            <a:ext cx="11629447" cy="787400"/>
          </a:xfrm>
        </p:spPr>
        <p:txBody>
          <a:bodyPr/>
          <a:lstStyle/>
          <a:p>
            <a:r>
              <a:rPr lang="en-US" dirty="0"/>
              <a:t>Evaluation and Validation</a:t>
            </a:r>
            <a:endParaRPr dirty="0"/>
          </a:p>
        </p:txBody>
      </p:sp>
      <p:sp>
        <p:nvSpPr>
          <p:cNvPr id="6" name="Rectangle 1">
            <a:extLst>
              <a:ext uri="{FF2B5EF4-FFF2-40B4-BE49-F238E27FC236}">
                <a16:creationId xmlns:a16="http://schemas.microsoft.com/office/drawing/2014/main" id="{7C538693-268E-52AC-C926-94FD1A8D7D62}"/>
              </a:ext>
            </a:extLst>
          </p:cNvPr>
          <p:cNvSpPr>
            <a:spLocks noChangeArrowheads="1"/>
          </p:cNvSpPr>
          <p:nvPr/>
        </p:nvSpPr>
        <p:spPr bwMode="auto">
          <a:xfrm rot="10800000" flipV="1">
            <a:off x="675285" y="1499839"/>
            <a:ext cx="7405284" cy="6694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300" b="1" i="0" u="none" strike="noStrike" cap="none" normalizeH="0" baseline="0" dirty="0">
                <a:ln>
                  <a:noFill/>
                </a:ln>
                <a:effectLst/>
                <a:latin typeface="Times New Roman" panose="02020603050405020304" pitchFamily="18" charset="0"/>
                <a:cs typeface="Times New Roman" panose="02020603050405020304" pitchFamily="18" charset="0"/>
              </a:rPr>
              <a:t>  Offline ML metrics:</a:t>
            </a:r>
            <a:r>
              <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rPr>
              <a:t> AUC/log loss, calibration error (ECE), ranking metrics (</a:t>
            </a:r>
            <a:r>
              <a:rPr kumimoji="0" lang="en-US" altLang="en-US" sz="3300" b="0" i="0" u="none" strike="noStrike" cap="none" normalizeH="0" baseline="0" dirty="0" err="1">
                <a:ln>
                  <a:noFill/>
                </a:ln>
                <a:effectLst/>
                <a:latin typeface="Times New Roman" panose="02020603050405020304" pitchFamily="18" charset="0"/>
                <a:cs typeface="Times New Roman" panose="02020603050405020304" pitchFamily="18" charset="0"/>
              </a:rPr>
              <a:t>NDCG@k</a:t>
            </a:r>
            <a:r>
              <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300" b="1" i="0" u="none" strike="noStrike" cap="none" normalizeH="0" baseline="0" dirty="0">
                <a:ln>
                  <a:noFill/>
                </a:ln>
                <a:effectLst/>
                <a:latin typeface="Times New Roman" panose="02020603050405020304" pitchFamily="18" charset="0"/>
                <a:cs typeface="Times New Roman" panose="02020603050405020304" pitchFamily="18" charset="0"/>
              </a:rPr>
              <a:t>  Learning outcomes (most important):</a:t>
            </a:r>
            <a:r>
              <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rPr>
              <a:t> A/B test adaptive vs fixed order, pre‑test → post‑test gain, time‑to‑mastery, 7‑day retention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300" b="1" i="0" u="none" strike="noStrike" cap="none" normalizeH="0" baseline="0" dirty="0">
                <a:ln>
                  <a:noFill/>
                </a:ln>
                <a:effectLst/>
                <a:latin typeface="Times New Roman" panose="02020603050405020304" pitchFamily="18" charset="0"/>
                <a:cs typeface="Times New Roman" panose="02020603050405020304" pitchFamily="18" charset="0"/>
              </a:rPr>
              <a:t>  Product metrics:</a:t>
            </a:r>
            <a:r>
              <a:rPr kumimoji="0" lang="en-US" altLang="en-US" sz="3300" b="0" i="0" u="none" strike="noStrike" cap="none" normalizeH="0" baseline="0" dirty="0">
                <a:ln>
                  <a:noFill/>
                </a:ln>
                <a:effectLst/>
                <a:latin typeface="Times New Roman" panose="02020603050405020304" pitchFamily="18" charset="0"/>
                <a:cs typeface="Times New Roman" panose="02020603050405020304" pitchFamily="18" charset="0"/>
              </a:rPr>
              <a:t> session completion, weekly active practice, drop‑off after wrong answers</a:t>
            </a:r>
          </a:p>
        </p:txBody>
      </p:sp>
      <p:pic>
        <p:nvPicPr>
          <p:cNvPr id="8" name="Picture 7" descr="A graph showing a blue line&#10;&#10;AI-generated content may be incorrect.">
            <a:extLst>
              <a:ext uri="{FF2B5EF4-FFF2-40B4-BE49-F238E27FC236}">
                <a16:creationId xmlns:a16="http://schemas.microsoft.com/office/drawing/2014/main" id="{0CF22005-18C0-9723-346E-8EC26AEA2744}"/>
              </a:ext>
            </a:extLst>
          </p:cNvPr>
          <p:cNvPicPr>
            <a:picLocks noChangeAspect="1"/>
          </p:cNvPicPr>
          <p:nvPr/>
        </p:nvPicPr>
        <p:blipFill>
          <a:blip r:embed="rId2"/>
          <a:stretch>
            <a:fillRect/>
          </a:stretch>
        </p:blipFill>
        <p:spPr>
          <a:xfrm>
            <a:off x="8080569" y="3601372"/>
            <a:ext cx="9890777" cy="5185789"/>
          </a:xfrm>
          <a:prstGeom prst="rect">
            <a:avLst/>
          </a:prstGeom>
        </p:spPr>
      </p:pic>
      <p:sp>
        <p:nvSpPr>
          <p:cNvPr id="10" name="TextBox 9">
            <a:extLst>
              <a:ext uri="{FF2B5EF4-FFF2-40B4-BE49-F238E27FC236}">
                <a16:creationId xmlns:a16="http://schemas.microsoft.com/office/drawing/2014/main" id="{E001BBCD-3135-5F60-546E-7C934A536D3E}"/>
              </a:ext>
            </a:extLst>
          </p:cNvPr>
          <p:cNvSpPr txBox="1"/>
          <p:nvPr/>
        </p:nvSpPr>
        <p:spPr>
          <a:xfrm>
            <a:off x="8764858" y="2563859"/>
            <a:ext cx="9144000" cy="55399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effectLst/>
                <a:latin typeface="Times New Roman" panose="02020603050405020304" pitchFamily="18" charset="0"/>
                <a:cs typeface="Times New Roman" panose="02020603050405020304" pitchFamily="18" charset="0"/>
              </a:rPr>
              <a:t>Plot:</a:t>
            </a:r>
            <a:r>
              <a:rPr kumimoji="0" lang="en-US" altLang="en-US" sz="3000" b="0" i="0" u="none" strike="noStrike" cap="none" normalizeH="0" baseline="0" dirty="0">
                <a:ln>
                  <a:noFill/>
                </a:ln>
                <a:effectLst/>
                <a:latin typeface="Times New Roman" panose="02020603050405020304" pitchFamily="18" charset="0"/>
                <a:cs typeface="Times New Roman" panose="02020603050405020304" pitchFamily="18" charset="0"/>
              </a:rPr>
              <a:t> Readiness forecast trajectory with confidence band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Roadmap (Realistic MVP -&gt; V1 -&gt; V2</a:t>
            </a:r>
            <a:endParaRPr dirty="0"/>
          </a:p>
        </p:txBody>
      </p:sp>
      <p:sp>
        <p:nvSpPr>
          <p:cNvPr id="4" name="Rectangle 1">
            <a:extLst>
              <a:ext uri="{FF2B5EF4-FFF2-40B4-BE49-F238E27FC236}">
                <a16:creationId xmlns:a16="http://schemas.microsoft.com/office/drawing/2014/main" id="{89907957-D755-C994-ACF3-16525513D3A0}"/>
              </a:ext>
            </a:extLst>
          </p:cNvPr>
          <p:cNvSpPr>
            <a:spLocks noChangeArrowheads="1"/>
          </p:cNvSpPr>
          <p:nvPr/>
        </p:nvSpPr>
        <p:spPr bwMode="auto">
          <a:xfrm>
            <a:off x="713678" y="2019568"/>
            <a:ext cx="16771435"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MVP:</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lang="en-US" altLang="en-US" sz="4000" dirty="0">
                <a:solidFill>
                  <a:schemeClr val="tx1"/>
                </a:solidFill>
                <a:latin typeface="Times New Roman" panose="02020603050405020304" pitchFamily="18" charset="0"/>
                <a:cs typeface="Times New Roman" panose="02020603050405020304" pitchFamily="18" charset="0"/>
              </a:rPr>
              <a:t>               </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tags + difficulty tiers, BKT mastery update, heuristic ranking, basic analytics + study plan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V1:</a:t>
            </a:r>
          </a:p>
          <a:p>
            <a:pPr marL="0" marR="0" lvl="0" indent="0" algn="l" defTabSz="914400" rtl="0" eaLnBrk="0" fontAlgn="base" latinLnBrk="0" hangingPunct="0">
              <a:lnSpc>
                <a:spcPct val="100000"/>
              </a:lnSpc>
              <a:spcBef>
                <a:spcPct val="0"/>
              </a:spcBef>
              <a:spcAft>
                <a:spcPct val="0"/>
              </a:spcAft>
              <a:buClrTx/>
              <a:buSzTx/>
              <a:tabLst/>
            </a:pPr>
            <a:r>
              <a:rPr lang="en-US" altLang="en-US" sz="4000" b="1" dirty="0">
                <a:solidFill>
                  <a:schemeClr val="tx1"/>
                </a:solidFill>
                <a:latin typeface="Times New Roman" panose="02020603050405020304" pitchFamily="18" charset="0"/>
                <a:cs typeface="Times New Roman" panose="02020603050405020304" pitchFamily="18" charset="0"/>
              </a:rPr>
              <a:t>            </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IRT calibration from logs, bandit policy for next‑best question, question quality scoring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V2:</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lang="en-US" altLang="en-US" sz="4000" dirty="0">
                <a:solidFill>
                  <a:schemeClr val="tx1"/>
                </a:solidFill>
                <a:latin typeface="Times New Roman" panose="02020603050405020304" pitchFamily="18" charset="0"/>
                <a:cs typeface="Times New Roman" panose="02020603050405020304" pitchFamily="18" charset="0"/>
              </a:rPr>
              <a:t>         </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DKT/Transformer KT (if data supports), NLP auto‑tagging + grounded assistant, controlled question generation (review gated)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1837</Words>
  <Application>Microsoft Macintosh PowerPoint</Application>
  <PresentationFormat>Custom</PresentationFormat>
  <Paragraphs>120</Paragraphs>
  <Slides>10</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Courier New</vt:lpstr>
      <vt:lpstr>Arial</vt:lpstr>
      <vt:lpstr>Calibri</vt:lpstr>
      <vt:lpstr>Tahoma</vt:lpstr>
      <vt:lpstr>Times New Roman</vt:lpstr>
      <vt:lpstr>Trebuchet MS</vt:lpstr>
      <vt:lpstr>Office Theme</vt:lpstr>
      <vt:lpstr>PANIMALAR ENGINEERING COLLEGE</vt:lpstr>
      <vt:lpstr>Problem</vt:lpstr>
      <vt:lpstr>Solution</vt:lpstr>
      <vt:lpstr>Adaptive Learning Flow (Inference‑time)</vt:lpstr>
      <vt:lpstr>ML Architecture &amp; Pipeline</vt:lpstr>
      <vt:lpstr>PowerPoint Presentation</vt:lpstr>
      <vt:lpstr>User Experience and Analytics </vt:lpstr>
      <vt:lpstr>Benefits &amp; Impact</vt:lpstr>
      <vt:lpstr>Evaluation and Validation</vt:lpstr>
      <vt:lpstr>Roadmap (Realistic MVP -&gt; V1 -&gt; V2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Deepthi Loganathan</dc:creator>
  <cp:lastModifiedBy>Akila Lourdes Miriyala Francis</cp:lastModifiedBy>
  <cp:revision>1</cp:revision>
  <dcterms:created xsi:type="dcterms:W3CDTF">2022-11-11T14:17:21Z</dcterms:created>
  <dcterms:modified xsi:type="dcterms:W3CDTF">2026-02-23T05:33:29Z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2022-11-09T00:00:00Z</vt:filetime>
  </property>
  <property fmtid="{D5CDD505-2E9C-101B-9397-08002B2CF9AE}" pid="3" name="Creator">
    <vt:lpwstr>Canva</vt:lpwstr>
  </property>
  <property fmtid="{D5CDD505-2E9C-101B-9397-08002B2CF9AE}" pid="4" name="LastSaved">
    <vt:filetime>2022-11-09T00:00:00Z</vt:filetime>
  </property>
</Properties>
</file>